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1" r:id="rId2"/>
    <p:sldId id="2582" r:id="rId3"/>
    <p:sldId id="2583" r:id="rId4"/>
    <p:sldId id="2581" r:id="rId5"/>
    <p:sldId id="2584" r:id="rId6"/>
    <p:sldId id="2585" r:id="rId7"/>
    <p:sldId id="2586" r:id="rId8"/>
    <p:sldId id="2587" r:id="rId9"/>
    <p:sldId id="2588" r:id="rId10"/>
    <p:sldId id="2589" r:id="rId11"/>
    <p:sldId id="259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Θεματική Παρουσίαση: Healthcare και Υγειονομική Περίθαλψη" id="{9D085FCD-6740-4185-AB36-D6003B8C69D2}">
          <p14:sldIdLst>
            <p14:sldId id="2561"/>
          </p14:sldIdLst>
        </p14:section>
        <p14:section name="Περιεχόμενα" id="{75FC7DF6-D7C3-4531-B647-2837AEF5266E}">
          <p14:sldIdLst>
            <p14:sldId id="2582"/>
          </p14:sldIdLst>
        </p14:section>
        <p14:section name="Παρουσίαση Ανάλυσης" id="{93DD328E-C52E-4958-A9FC-A48B37B1EC93}">
          <p14:sldIdLst>
            <p14:sldId id="2583"/>
            <p14:sldId id="2581"/>
            <p14:sldId id="2584"/>
            <p14:sldId id="2585"/>
            <p14:sldId id="2586"/>
            <p14:sldId id="2587"/>
            <p14:sldId id="2588"/>
            <p14:sldId id="2589"/>
            <p14:sldId id="25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0091C7-5E9E-4EA4-A91D-CCAE75F866B1}" v="60" dt="2026-06-16T22:24:43.4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58"/>
    <p:restoredTop sz="94681"/>
  </p:normalViewPr>
  <p:slideViewPr>
    <p:cSldViewPr snapToGrid="0">
      <p:cViewPr varScale="1">
        <p:scale>
          <a:sx n="105" d="100"/>
          <a:sy n="105" d="100"/>
        </p:scale>
        <p:origin x="4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063B2A-8C6F-4284-9EF5-569059B7A2B4}" type="datetimeFigureOut">
              <a:t>17/6/2026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1120E-999D-4415-B261-936C0C9B90C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65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Το περιεχόμενο που δημιουργείται από ΑΙ μπορεί να μην είναι σωστό.
---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84FC26-15A4-48F2-8EAC-FBFFF11BCA05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5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Τίτλος με εικόνα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731407"/>
            <a:ext cx="6480450" cy="3038878"/>
          </a:xfrm>
        </p:spPr>
        <p:txBody>
          <a:bodyPr rtlCol="0" anchor="t">
            <a:normAutofit/>
          </a:bodyPr>
          <a:lstStyle>
            <a:lvl1pPr>
              <a:defRPr sz="6000"/>
            </a:lvl1pPr>
          </a:lstStyle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315" y="5264528"/>
            <a:ext cx="6577526" cy="1001354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 rtl="0"/>
            <a:r>
              <a:rPr lang="el"/>
              <a:t>Στυλ υποδείγματος κειμένου</a:t>
            </a: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80" y="6426091"/>
            <a:ext cx="4357544" cy="365125"/>
          </a:xfrm>
        </p:spPr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2188" y="6426091"/>
            <a:ext cx="1431447" cy="365125"/>
          </a:xfrm>
        </p:spPr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82685" y="6426091"/>
            <a:ext cx="603114" cy="365125"/>
          </a:xfrm>
        </p:spPr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Θέση εικόνας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0"/>
            <a:ext cx="4571999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l"/>
              <a:t> </a:t>
            </a:r>
          </a:p>
        </p:txBody>
      </p:sp>
      <p:cxnSp>
        <p:nvCxnSpPr>
          <p:cNvPr id="10" name="Ευθεία γραμμή σύνδεσης 9">
            <a:extLst>
              <a:ext uri="{FF2B5EF4-FFF2-40B4-BE49-F238E27FC236}">
                <a16:creationId xmlns:a16="http://schemas.microsoft.com/office/drawing/2014/main" id="{5022CE8C-DC47-AF8A-A37E-C04D364B8D63}"/>
              </a:ext>
            </a:extLst>
          </p:cNvPr>
          <p:cNvCxnSpPr>
            <a:cxnSpLocks/>
          </p:cNvCxnSpPr>
          <p:nvPr/>
        </p:nvCxnSpPr>
        <p:spPr>
          <a:xfrm>
            <a:off x="533400" y="6324773"/>
            <a:ext cx="648045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Ευθεία γραμμή σύνδεσης 10">
            <a:extLst>
              <a:ext uri="{FF2B5EF4-FFF2-40B4-BE49-F238E27FC236}">
                <a16:creationId xmlns:a16="http://schemas.microsoft.com/office/drawing/2014/main" id="{735A6ADE-4FF0-6E84-4D25-A3E7A481303D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646050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Ευθεία γραμμή σύνδεσης 6">
            <a:extLst>
              <a:ext uri="{FF2B5EF4-FFF2-40B4-BE49-F238E27FC236}">
                <a16:creationId xmlns:a16="http://schemas.microsoft.com/office/drawing/2014/main" id="{5B306735-74E7-C788-FB5F-7BC551ED5CDD}"/>
              </a:ext>
            </a:extLst>
          </p:cNvPr>
          <p:cNvCxnSpPr>
            <a:cxnSpLocks/>
          </p:cNvCxnSpPr>
          <p:nvPr/>
        </p:nvCxnSpPr>
        <p:spPr>
          <a:xfrm>
            <a:off x="533400" y="512722"/>
            <a:ext cx="6456409" cy="0"/>
          </a:xfrm>
          <a:prstGeom prst="line">
            <a:avLst/>
          </a:prstGeom>
          <a:ln w="476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74278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Περιεχόμενο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332308"/>
            <a:ext cx="11253667" cy="909921"/>
          </a:xfrm>
        </p:spPr>
        <p:txBody>
          <a:bodyPr rtlCol="0" anchor="b"/>
          <a:lstStyle/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488931"/>
            <a:ext cx="11253668" cy="4700761"/>
          </a:xfrm>
        </p:spPr>
        <p:txBody>
          <a:bodyPr rtlCol="0"/>
          <a:lstStyle/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Ευθεία γραμμή σύνδεσης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0912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Τίτλος με εικόνα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Θέση εικόνας 10">
            <a:extLst>
              <a:ext uri="{FF2B5EF4-FFF2-40B4-BE49-F238E27FC236}">
                <a16:creationId xmlns:a16="http://schemas.microsoft.com/office/drawing/2014/main" id="{1AAFFBF3-C898-85FC-D25A-592E29515C2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510023 w 12192000"/>
              <a:gd name="connsiteY0" fmla="*/ 505353 h 6858000"/>
              <a:gd name="connsiteX1" fmla="*/ 510023 w 12192000"/>
              <a:gd name="connsiteY1" fmla="*/ 6352647 h 6858000"/>
              <a:gd name="connsiteX2" fmla="*/ 5415398 w 12192000"/>
              <a:gd name="connsiteY2" fmla="*/ 6352647 h 6858000"/>
              <a:gd name="connsiteX3" fmla="*/ 5415398 w 12192000"/>
              <a:gd name="connsiteY3" fmla="*/ 505353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510023" y="505353"/>
                </a:moveTo>
                <a:lnTo>
                  <a:pt x="510023" y="6352647"/>
                </a:lnTo>
                <a:lnTo>
                  <a:pt x="5415398" y="6352647"/>
                </a:lnTo>
                <a:lnTo>
                  <a:pt x="5415398" y="50535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  <a:effectLst>
            <a:innerShdw blurRad="215900" dist="25400" dir="13500000">
              <a:prstClr val="black">
                <a:alpha val="15000"/>
              </a:prstClr>
            </a:innerShdw>
          </a:effectLst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l"/>
              <a:t> </a:t>
            </a: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297" y="1136691"/>
            <a:ext cx="4135970" cy="3038878"/>
          </a:xfrm>
        </p:spPr>
        <p:txBody>
          <a:bodyPr rtlCol="0" anchor="t">
            <a:normAutofit/>
          </a:bodyPr>
          <a:lstStyle>
            <a:lvl1pPr>
              <a:defRPr sz="4400"/>
            </a:lvl1pPr>
          </a:lstStyle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2093" y="5282217"/>
            <a:ext cx="4136599" cy="947146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 rtl="0"/>
            <a:r>
              <a:rPr lang="el"/>
              <a:t>Στυλ υποδείγματος κειμένου</a:t>
            </a: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336" y="6426091"/>
            <a:ext cx="3877552" cy="365125"/>
          </a:xfrm>
        </p:spPr>
        <p:txBody>
          <a:bodyPr rtlCol="0"/>
          <a:lstStyle>
            <a:lvl1pPr>
              <a:defRPr>
                <a:solidFill>
                  <a:schemeClr val="bg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en-US"/>
              <a:t>4/8/2025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Ευθεία γραμμή σύνδεσης 7">
            <a:extLst>
              <a:ext uri="{FF2B5EF4-FFF2-40B4-BE49-F238E27FC236}">
                <a16:creationId xmlns:a16="http://schemas.microsoft.com/office/drawing/2014/main" id="{A280C4FA-D5DF-A52F-5EBC-E1A231F643A5}"/>
              </a:ext>
            </a:extLst>
          </p:cNvPr>
          <p:cNvCxnSpPr>
            <a:cxnSpLocks/>
          </p:cNvCxnSpPr>
          <p:nvPr/>
        </p:nvCxnSpPr>
        <p:spPr>
          <a:xfrm>
            <a:off x="944438" y="5162641"/>
            <a:ext cx="403082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Ευθεία γραμμή σύνδεσης 8">
            <a:extLst>
              <a:ext uri="{FF2B5EF4-FFF2-40B4-BE49-F238E27FC236}">
                <a16:creationId xmlns:a16="http://schemas.microsoft.com/office/drawing/2014/main" id="{22BEF2C1-7030-5074-0586-5EBAF7D59A33}"/>
              </a:ext>
            </a:extLst>
          </p:cNvPr>
          <p:cNvCxnSpPr>
            <a:cxnSpLocks/>
          </p:cNvCxnSpPr>
          <p:nvPr/>
        </p:nvCxnSpPr>
        <p:spPr>
          <a:xfrm>
            <a:off x="944438" y="904533"/>
            <a:ext cx="4036971" cy="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50438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Τίτλος με εικόνα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Ευθεία γραμμή σύνδεσης 6">
            <a:extLst>
              <a:ext uri="{FF2B5EF4-FFF2-40B4-BE49-F238E27FC236}">
                <a16:creationId xmlns:a16="http://schemas.microsoft.com/office/drawing/2014/main" id="{B1F847F0-1D67-5F49-6571-5F248F11275B}"/>
              </a:ext>
            </a:extLst>
          </p:cNvPr>
          <p:cNvCxnSpPr>
            <a:cxnSpLocks/>
          </p:cNvCxnSpPr>
          <p:nvPr/>
        </p:nvCxnSpPr>
        <p:spPr>
          <a:xfrm>
            <a:off x="8173214" y="530425"/>
            <a:ext cx="3485386" cy="0"/>
          </a:xfrm>
          <a:prstGeom prst="line">
            <a:avLst/>
          </a:prstGeom>
          <a:ln w="412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Ευθεία γραμμή σύνδεσης 7">
            <a:extLst>
              <a:ext uri="{FF2B5EF4-FFF2-40B4-BE49-F238E27FC236}">
                <a16:creationId xmlns:a16="http://schemas.microsoft.com/office/drawing/2014/main" id="{A280C4FA-D5DF-A52F-5EBC-E1A231F643A5}"/>
              </a:ext>
            </a:extLst>
          </p:cNvPr>
          <p:cNvCxnSpPr>
            <a:cxnSpLocks/>
          </p:cNvCxnSpPr>
          <p:nvPr/>
        </p:nvCxnSpPr>
        <p:spPr>
          <a:xfrm>
            <a:off x="8173214" y="5498461"/>
            <a:ext cx="348538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Τίτλος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968" y="768351"/>
            <a:ext cx="3685656" cy="2843527"/>
          </a:xfrm>
        </p:spPr>
        <p:txBody>
          <a:bodyPr rtlCol="0" anchor="t">
            <a:normAutofit/>
          </a:bodyPr>
          <a:lstStyle>
            <a:lvl1pPr>
              <a:defRPr sz="4400"/>
            </a:lvl1pPr>
          </a:lstStyle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9" name="Θέση εικόνας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605681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l"/>
              <a:t> 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3978" y="5681133"/>
            <a:ext cx="3655646" cy="664191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 rtl="0"/>
            <a:r>
              <a:rPr lang="el"/>
              <a:t>Στυλ υποδείγματος κειμένου</a:t>
            </a:r>
          </a:p>
        </p:txBody>
      </p:sp>
      <p:sp>
        <p:nvSpPr>
          <p:cNvPr id="11" name="Θέση υποσέλιδου 10">
            <a:extLst>
              <a:ext uri="{FF2B5EF4-FFF2-40B4-BE49-F238E27FC236}">
                <a16:creationId xmlns:a16="http://schemas.microsoft.com/office/drawing/2014/main" id="{E2571521-DF5C-DF9C-1A62-5F1513FC61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073978" y="6426091"/>
            <a:ext cx="2295058" cy="365125"/>
          </a:xfrm>
        </p:spPr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10" name="Θέση ημερομηνίας 9">
            <a:extLst>
              <a:ext uri="{FF2B5EF4-FFF2-40B4-BE49-F238E27FC236}">
                <a16:creationId xmlns:a16="http://schemas.microsoft.com/office/drawing/2014/main" id="{1135B836-FBFB-89F8-B972-11036B55F5C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98013" y="6426091"/>
            <a:ext cx="875825" cy="365125"/>
          </a:xfrm>
        </p:spPr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12" name="Θέση αριθμού διαφάνειας 11">
            <a:extLst>
              <a:ext uri="{FF2B5EF4-FFF2-40B4-BE49-F238E27FC236}">
                <a16:creationId xmlns:a16="http://schemas.microsoft.com/office/drawing/2014/main" id="{50AD8387-A9F9-E9E2-1138-08C0AA4957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864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Τίτλος με εικόνα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01" y="5056743"/>
            <a:ext cx="11339400" cy="966902"/>
          </a:xfrm>
        </p:spPr>
        <p:txBody>
          <a:bodyPr rtlCol="0" anchor="b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9" name="Θέση εικόνας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930912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l"/>
              <a:t> 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902" y="5979576"/>
            <a:ext cx="11339400" cy="365126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 rtl="0"/>
            <a:r>
              <a:rPr lang="el"/>
              <a:t>Στυλ υποδείγματος κειμένου</a:t>
            </a:r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3F256503-7989-932D-DE04-B424AC0B97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623E99C9-C336-E83E-56A6-D68659547CA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10" name="Θέση αριθμού διαφάνειας 9">
            <a:extLst>
              <a:ext uri="{FF2B5EF4-FFF2-40B4-BE49-F238E27FC236}">
                <a16:creationId xmlns:a16="http://schemas.microsoft.com/office/drawing/2014/main" id="{757A77FC-B384-BD30-0961-237F594F200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6168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Τίτλο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238" y="398050"/>
            <a:ext cx="9635668" cy="367139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accent1"/>
                </a:solidFill>
              </a:defRPr>
            </a:lvl1pPr>
          </a:lstStyle>
          <a:p>
            <a:pPr lvl="0"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322" y="5669280"/>
            <a:ext cx="9620300" cy="75680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el"/>
              <a:t>Κάντε κλικ για να επεξεργαστείτε τον υπότιτλο του υποδείγματος</a:t>
            </a:r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Ευθεία γραμμή σύνδεσης 8">
            <a:extLst>
              <a:ext uri="{FF2B5EF4-FFF2-40B4-BE49-F238E27FC236}">
                <a16:creationId xmlns:a16="http://schemas.microsoft.com/office/drawing/2014/main" id="{46EBC7DB-A84C-6AE6-0446-4E466A133069}"/>
              </a:ext>
            </a:extLst>
          </p:cNvPr>
          <p:cNvCxnSpPr>
            <a:cxnSpLocks/>
          </p:cNvCxnSpPr>
          <p:nvPr/>
        </p:nvCxnSpPr>
        <p:spPr>
          <a:xfrm>
            <a:off x="530352" y="5498461"/>
            <a:ext cx="1112444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7641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Τίτλος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6" y="765750"/>
            <a:ext cx="9635668" cy="34551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accent1"/>
                </a:solidFill>
              </a:defRPr>
            </a:lvl1pPr>
          </a:lstStyle>
          <a:p>
            <a:pPr lvl="0"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428" y="5271844"/>
            <a:ext cx="9613065" cy="10013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el"/>
              <a:t>Κάντε κλικ για να επεξεργαστείτε τον υπότιτλο του υποδείγματος</a:t>
            </a:r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Ευθεία γραμμή σύνδεσης 11">
            <a:extLst>
              <a:ext uri="{FF2B5EF4-FFF2-40B4-BE49-F238E27FC236}">
                <a16:creationId xmlns:a16="http://schemas.microsoft.com/office/drawing/2014/main" id="{D4CDCB79-1025-8102-1BC6-378AB173CBFF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Ευθεία γραμμή σύνδεσης 10">
            <a:extLst>
              <a:ext uri="{FF2B5EF4-FFF2-40B4-BE49-F238E27FC236}">
                <a16:creationId xmlns:a16="http://schemas.microsoft.com/office/drawing/2014/main" id="{CEF23CAD-F5FD-3FB3-B413-1F54592B07E7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2576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Τίτλος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6" y="765750"/>
            <a:ext cx="9635668" cy="3528339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4857" y="5184425"/>
            <a:ext cx="10575756" cy="115322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l"/>
              <a:t>Κάντε κλικ για να επεξεργαστείτε τον υπότιτλο του υποδείγματος</a:t>
            </a:r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4/8/2025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Ευθεία γραμμή σύνδεσης 10">
            <a:extLst>
              <a:ext uri="{FF2B5EF4-FFF2-40B4-BE49-F238E27FC236}">
                <a16:creationId xmlns:a16="http://schemas.microsoft.com/office/drawing/2014/main" id="{3817982C-A325-8307-2486-3AD646261E04}"/>
              </a:ext>
            </a:extLst>
          </p:cNvPr>
          <p:cNvCxnSpPr>
            <a:cxnSpLocks/>
          </p:cNvCxnSpPr>
          <p:nvPr/>
        </p:nvCxnSpPr>
        <p:spPr>
          <a:xfrm>
            <a:off x="533400" y="533538"/>
            <a:ext cx="11127005" cy="0"/>
          </a:xfrm>
          <a:prstGeom prst="line">
            <a:avLst/>
          </a:prstGeom>
          <a:ln w="603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Ευθεία γραμμή σύνδεσης 8">
            <a:extLst>
              <a:ext uri="{FF2B5EF4-FFF2-40B4-BE49-F238E27FC236}">
                <a16:creationId xmlns:a16="http://schemas.microsoft.com/office/drawing/2014/main" id="{2C02859D-9F11-5594-CFD3-C5FDE18CACB3}"/>
              </a:ext>
            </a:extLst>
          </p:cNvPr>
          <p:cNvCxnSpPr>
            <a:cxnSpLocks/>
          </p:cNvCxnSpPr>
          <p:nvPr/>
        </p:nvCxnSpPr>
        <p:spPr>
          <a:xfrm>
            <a:off x="533400" y="5169248"/>
            <a:ext cx="11127005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Ευθεία γραμμή σύνδεσης 11">
            <a:extLst>
              <a:ext uri="{FF2B5EF4-FFF2-40B4-BE49-F238E27FC236}">
                <a16:creationId xmlns:a16="http://schemas.microsoft.com/office/drawing/2014/main" id="{6A0AD802-2887-3310-1453-789DB76F58DF}"/>
              </a:ext>
            </a:extLst>
          </p:cNvPr>
          <p:cNvCxnSpPr>
            <a:cxnSpLocks/>
          </p:cNvCxnSpPr>
          <p:nvPr/>
        </p:nvCxnSpPr>
        <p:spPr>
          <a:xfrm>
            <a:off x="533400" y="6330811"/>
            <a:ext cx="11119945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26562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Κεφαλίδα ενότητας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97" y="3018408"/>
            <a:ext cx="8961120" cy="3247475"/>
          </a:xfrm>
        </p:spPr>
        <p:txBody>
          <a:bodyPr rtlCol="0" anchor="b">
            <a:normAutofit/>
          </a:bodyPr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4/8/2025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Ευθεία γραμμή σύνδεσης 6">
            <a:extLst>
              <a:ext uri="{FF2B5EF4-FFF2-40B4-BE49-F238E27FC236}">
                <a16:creationId xmlns:a16="http://schemas.microsoft.com/office/drawing/2014/main" id="{6FD05DD5-DCB7-49C7-5E41-2DBD8B73D6D2}"/>
              </a:ext>
            </a:extLst>
          </p:cNvPr>
          <p:cNvCxnSpPr>
            <a:cxnSpLocks/>
          </p:cNvCxnSpPr>
          <p:nvPr/>
        </p:nvCxnSpPr>
        <p:spPr>
          <a:xfrm>
            <a:off x="530646" y="531958"/>
            <a:ext cx="11127954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Ευθεία γραμμή σύνδεσης 7">
            <a:extLst>
              <a:ext uri="{FF2B5EF4-FFF2-40B4-BE49-F238E27FC236}">
                <a16:creationId xmlns:a16="http://schemas.microsoft.com/office/drawing/2014/main" id="{69FDA663-314D-CA26-DF41-CB3FDC0733F0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5242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Ατζέντα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2851"/>
            <a:ext cx="7525512" cy="1882595"/>
          </a:xfrm>
        </p:spPr>
        <p:txBody>
          <a:bodyPr rtlCol="0"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7" name="Θέση περιεχομένου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4856" y="2502245"/>
            <a:ext cx="7492991" cy="3669956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1495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Ατζέντα με εικόνα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1519"/>
            <a:ext cx="6516938" cy="2091068"/>
          </a:xfrm>
        </p:spPr>
        <p:txBody>
          <a:bodyPr rtlCol="0"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7" name="Θέση περιεχομένου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6526" y="2897442"/>
            <a:ext cx="6482747" cy="327983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336" y="6426091"/>
            <a:ext cx="4303014" cy="365125"/>
          </a:xfrm>
        </p:spPr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95850" y="6416667"/>
            <a:ext cx="1420310" cy="365125"/>
          </a:xfrm>
        </p:spPr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16160" y="6416667"/>
            <a:ext cx="603114" cy="365125"/>
          </a:xfrm>
        </p:spPr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Θέση εικόνας 8">
            <a:extLst>
              <a:ext uri="{FF2B5EF4-FFF2-40B4-BE49-F238E27FC236}">
                <a16:creationId xmlns:a16="http://schemas.microsoft.com/office/drawing/2014/main" id="{FBFCD9F4-28CD-7877-8D0E-B6685E2A12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19999" y="0"/>
            <a:ext cx="4571999" cy="68579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l"/>
              <a:t> </a:t>
            </a:r>
          </a:p>
        </p:txBody>
      </p:sp>
      <p:cxnSp>
        <p:nvCxnSpPr>
          <p:cNvPr id="9" name="Ευθεία γραμμή σύνδεσης 8">
            <a:extLst>
              <a:ext uri="{FF2B5EF4-FFF2-40B4-BE49-F238E27FC236}">
                <a16:creationId xmlns:a16="http://schemas.microsoft.com/office/drawing/2014/main" id="{0E6481B7-DF51-286F-B976-0777FDDAC524}"/>
              </a:ext>
            </a:extLst>
          </p:cNvPr>
          <p:cNvCxnSpPr>
            <a:cxnSpLocks/>
          </p:cNvCxnSpPr>
          <p:nvPr/>
        </p:nvCxnSpPr>
        <p:spPr>
          <a:xfrm>
            <a:off x="530352" y="2670800"/>
            <a:ext cx="6402856" cy="0"/>
          </a:xfrm>
          <a:prstGeom prst="line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171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Ατζέντα με εικόνα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380188"/>
            <a:ext cx="4688732" cy="2313195"/>
          </a:xfrm>
        </p:spPr>
        <p:txBody>
          <a:bodyPr rtlCol="0" anchor="t">
            <a:normAutofit/>
          </a:bodyPr>
          <a:lstStyle>
            <a:lvl1pPr>
              <a:defRPr sz="5400">
                <a:solidFill>
                  <a:schemeClr val="accent1"/>
                </a:solidFill>
              </a:defRPr>
            </a:lvl1pPr>
          </a:lstStyle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8" name="Θέση εικόνας 8">
            <a:extLst>
              <a:ext uri="{FF2B5EF4-FFF2-40B4-BE49-F238E27FC236}">
                <a16:creationId xmlns:a16="http://schemas.microsoft.com/office/drawing/2014/main" id="{E6BFF2B7-0DC8-E068-0F08-D1CF291F8EA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3041367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l"/>
              <a:t> </a:t>
            </a:r>
          </a:p>
        </p:txBody>
      </p:sp>
      <p:sp>
        <p:nvSpPr>
          <p:cNvPr id="7" name="Θέση περιεχομένου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38800" y="3363190"/>
            <a:ext cx="6029721" cy="2759316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Ευθεία γραμμή σύνδεσης 10">
            <a:extLst>
              <a:ext uri="{FF2B5EF4-FFF2-40B4-BE49-F238E27FC236}">
                <a16:creationId xmlns:a16="http://schemas.microsoft.com/office/drawing/2014/main" id="{A4981961-B802-677C-4957-E24CA14D5E6D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74575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Περιεχόμενο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Ευθεία γραμμή σύνδεσης 6">
            <a:extLst>
              <a:ext uri="{FF2B5EF4-FFF2-40B4-BE49-F238E27FC236}">
                <a16:creationId xmlns:a16="http://schemas.microsoft.com/office/drawing/2014/main" id="{0107B931-214A-9578-5A7A-FDEB9ADB5080}"/>
              </a:ext>
            </a:extLst>
          </p:cNvPr>
          <p:cNvCxnSpPr>
            <a:cxnSpLocks/>
          </p:cNvCxnSpPr>
          <p:nvPr/>
        </p:nvCxnSpPr>
        <p:spPr>
          <a:xfrm>
            <a:off x="3751277" y="2791386"/>
            <a:ext cx="468944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Τίτλος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0862" y="1429789"/>
            <a:ext cx="5090277" cy="1196713"/>
          </a:xfrm>
        </p:spPr>
        <p:txBody>
          <a:bodyPr rtlCol="0" anchor="b"/>
          <a:lstStyle>
            <a:lvl1pPr algn="ctr">
              <a:defRPr/>
            </a:lvl1pPr>
          </a:lstStyle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6880" y="2999629"/>
            <a:ext cx="4838241" cy="2195823"/>
          </a:xfrm>
        </p:spPr>
        <p:txBody>
          <a:bodyPr rtlCol="0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01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Περιεχόμενο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089" y="1673352"/>
            <a:ext cx="3360352" cy="2324365"/>
          </a:xfrm>
        </p:spPr>
        <p:txBody>
          <a:bodyPr rtlCol="0" anchor="t"/>
          <a:lstStyle/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80" y="1673352"/>
            <a:ext cx="5785132" cy="2918754"/>
          </a:xfrm>
        </p:spPr>
        <p:txBody>
          <a:bodyPr rtlCol="0"/>
          <a:lstStyle/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Ευθεία γραμμή σύνδεσης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45987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69933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Περιεχόμενο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60" y="1399734"/>
            <a:ext cx="4136461" cy="2918754"/>
          </a:xfrm>
        </p:spPr>
        <p:txBody>
          <a:bodyPr rtlCol="0" anchor="t"/>
          <a:lstStyle/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80" y="1398419"/>
            <a:ext cx="6250020" cy="4114800"/>
          </a:xfrm>
        </p:spPr>
        <p:txBody>
          <a:bodyPr rtlCol="0"/>
          <a:lstStyle/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Ευθεία γραμμή σύνδεσης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2906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14868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Περιεχόμενο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694944"/>
            <a:ext cx="3334120" cy="2734056"/>
          </a:xfrm>
        </p:spPr>
        <p:txBody>
          <a:bodyPr rtlCol="0" anchor="t"/>
          <a:lstStyle/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9100" y="694943"/>
            <a:ext cx="7439421" cy="5486400"/>
          </a:xfrm>
        </p:spPr>
        <p:txBody>
          <a:bodyPr rtlCol="0"/>
          <a:lstStyle/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Ευθεία γραμμή σύνδεσης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67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80907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Περιεχόμενο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2918754"/>
          </a:xfrm>
        </p:spPr>
        <p:txBody>
          <a:bodyPr rtlCol="0" anchor="t"/>
          <a:lstStyle/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452" y="743106"/>
            <a:ext cx="6277070" cy="5312987"/>
          </a:xfrm>
        </p:spPr>
        <p:txBody>
          <a:bodyPr rtlCol="0"/>
          <a:lstStyle/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Ευθεία γραμμή σύνδεσης 6">
            <a:extLst>
              <a:ext uri="{FF2B5EF4-FFF2-40B4-BE49-F238E27FC236}">
                <a16:creationId xmlns:a16="http://schemas.microsoft.com/office/drawing/2014/main" id="{59F873DB-8FEF-C24C-ECA0-EABFFF560476}"/>
              </a:ext>
            </a:extLst>
          </p:cNvPr>
          <p:cNvCxnSpPr>
            <a:cxnSpLocks/>
          </p:cNvCxnSpPr>
          <p:nvPr/>
        </p:nvCxnSpPr>
        <p:spPr>
          <a:xfrm>
            <a:off x="5486400" y="528489"/>
            <a:ext cx="6172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Ευθεία γραμμή σύνδεσης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1518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Περιεχόμενο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60" y="433576"/>
            <a:ext cx="3263496" cy="2821439"/>
          </a:xfrm>
        </p:spPr>
        <p:txBody>
          <a:bodyPr rtlCol="0" anchor="t">
            <a:normAutofit/>
          </a:bodyPr>
          <a:lstStyle>
            <a:lvl1pPr>
              <a:defRPr sz="3600"/>
            </a:lvl1pPr>
          </a:lstStyle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9946" y="694944"/>
            <a:ext cx="7358769" cy="5486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Ευθεία γραμμή σύνδεσης 6">
            <a:extLst>
              <a:ext uri="{FF2B5EF4-FFF2-40B4-BE49-F238E27FC236}">
                <a16:creationId xmlns:a16="http://schemas.microsoft.com/office/drawing/2014/main" id="{290E8417-C758-AC09-72D4-D07CE8D5D1EB}"/>
              </a:ext>
            </a:extLst>
          </p:cNvPr>
          <p:cNvCxnSpPr>
            <a:cxnSpLocks/>
          </p:cNvCxnSpPr>
          <p:nvPr/>
        </p:nvCxnSpPr>
        <p:spPr>
          <a:xfrm>
            <a:off x="4347151" y="528489"/>
            <a:ext cx="7326605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Ευθεία γραμμή σύνδεσης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5968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Περιεχόμενο με εικόνα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3867" y="691867"/>
            <a:ext cx="5664732" cy="1212661"/>
          </a:xfrm>
        </p:spPr>
        <p:txBody>
          <a:bodyPr rtlCol="0"/>
          <a:lstStyle/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34" name="Θέση εικόνας 8">
            <a:extLst>
              <a:ext uri="{FF2B5EF4-FFF2-40B4-BE49-F238E27FC236}">
                <a16:creationId xmlns:a16="http://schemas.microsoft.com/office/drawing/2014/main" id="{38FD2E6A-E1F7-36FC-E50F-AD4CE7691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1" y="533400"/>
            <a:ext cx="4953000" cy="5811928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l"/>
              <a:t> 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865" y="2007652"/>
            <a:ext cx="5664732" cy="4315319"/>
          </a:xfrm>
        </p:spPr>
        <p:txBody>
          <a:bodyPr rtlCol="0"/>
          <a:lstStyle/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Ευθεία γραμμή σύνδεσης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6058518" y="530352"/>
            <a:ext cx="56000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8262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Περιεχόμενο με εικόνα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62" y="691868"/>
            <a:ext cx="5593338" cy="1157316"/>
          </a:xfrm>
        </p:spPr>
        <p:txBody>
          <a:bodyPr rtlCol="0"/>
          <a:lstStyle/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928" y="2010699"/>
            <a:ext cx="5577972" cy="4334628"/>
          </a:xfrm>
        </p:spPr>
        <p:txBody>
          <a:bodyPr rtlCol="0"/>
          <a:lstStyle/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34" name="Θέση εικόνας 8">
            <a:extLst>
              <a:ext uri="{FF2B5EF4-FFF2-40B4-BE49-F238E27FC236}">
                <a16:creationId xmlns:a16="http://schemas.microsoft.com/office/drawing/2014/main" id="{38FD2E6A-E1F7-36FC-E50F-AD4CE7691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53200" y="533400"/>
            <a:ext cx="5105400" cy="57912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l"/>
              <a:t> </a:t>
            </a: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Ευθεία γραμμή σύνδεσης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18028" y="530352"/>
            <a:ext cx="549487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719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Περιεχόμενο με εικόνα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971" y="691866"/>
            <a:ext cx="6680630" cy="1217337"/>
          </a:xfrm>
        </p:spPr>
        <p:txBody>
          <a:bodyPr rtlCol="0"/>
          <a:lstStyle/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10" name="Θέση εικόνας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3886200" cy="581192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l"/>
              <a:t> 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971" y="2010699"/>
            <a:ext cx="6680630" cy="4313902"/>
          </a:xfrm>
        </p:spPr>
        <p:txBody>
          <a:bodyPr rtlCol="0"/>
          <a:lstStyle/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Ευθεία γραμμή σύνδεσης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84096" y="533400"/>
            <a:ext cx="668063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4977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Περιεχόμενο με εικόνα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59" y="691867"/>
            <a:ext cx="6664559" cy="1217340"/>
          </a:xfrm>
        </p:spPr>
        <p:txBody>
          <a:bodyPr rtlCol="0"/>
          <a:lstStyle/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217" y="2010699"/>
            <a:ext cx="6661902" cy="4330851"/>
          </a:xfrm>
        </p:spPr>
        <p:txBody>
          <a:bodyPr rtlCol="0"/>
          <a:lstStyle/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10" name="Θέση εικόνας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533400"/>
            <a:ext cx="4038600" cy="57912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l"/>
              <a:t> </a:t>
            </a: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00" y="6426091"/>
            <a:ext cx="3553839" cy="365125"/>
          </a:xfrm>
        </p:spPr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Ευθεία γραμμή σύνδεσης 6">
            <a:extLst>
              <a:ext uri="{FF2B5EF4-FFF2-40B4-BE49-F238E27FC236}">
                <a16:creationId xmlns:a16="http://schemas.microsoft.com/office/drawing/2014/main" id="{CA3F4131-F439-B360-2C50-DC4ED02C5AF2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65677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70837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Περιεχόμενο με εικόνα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497" y="691868"/>
            <a:ext cx="4660247" cy="1439210"/>
          </a:xfrm>
        </p:spPr>
        <p:txBody>
          <a:bodyPr rtlCol="0"/>
          <a:lstStyle/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9" name="Θέση εικόνας 8">
            <a:extLst>
              <a:ext uri="{FF2B5EF4-FFF2-40B4-BE49-F238E27FC236}">
                <a16:creationId xmlns:a16="http://schemas.microsoft.com/office/drawing/2014/main" id="{57807F9F-79B5-ED92-41CC-A1D1A8D03E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399"/>
            <a:ext cx="6029286" cy="579120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l"/>
              <a:t> 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497" y="2211184"/>
            <a:ext cx="4660247" cy="4113415"/>
          </a:xfrm>
        </p:spPr>
        <p:txBody>
          <a:bodyPr rtlCol="0"/>
          <a:lstStyle/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Ευθεία γραμμή σύνδεσης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7095744" y="530921"/>
            <a:ext cx="456285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1658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Περιεχόμενο με εικόνα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76" y="691868"/>
            <a:ext cx="4577602" cy="1439210"/>
          </a:xfrm>
        </p:spPr>
        <p:txBody>
          <a:bodyPr rtlCol="0"/>
          <a:lstStyle/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76" y="2211185"/>
            <a:ext cx="4577602" cy="3954946"/>
          </a:xfrm>
        </p:spPr>
        <p:txBody>
          <a:bodyPr rtlCol="0"/>
          <a:lstStyle/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9" name="Θέση εικόνας 8">
            <a:extLst>
              <a:ext uri="{FF2B5EF4-FFF2-40B4-BE49-F238E27FC236}">
                <a16:creationId xmlns:a16="http://schemas.microsoft.com/office/drawing/2014/main" id="{57807F9F-79B5-ED92-41CC-A1D1A8D03E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6400" y="533399"/>
            <a:ext cx="6172200" cy="579120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l"/>
              <a:t> </a:t>
            </a: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Ευθεία γραμμή σύνδεσης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44365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7693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Περιεχόμενο με εικόνα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9814" y="512011"/>
            <a:ext cx="3628786" cy="1259920"/>
          </a:xfrm>
        </p:spPr>
        <p:txBody>
          <a:bodyPr rtlCol="0" anchor="b"/>
          <a:lstStyle/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10" name="Θέση εικόνας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399"/>
            <a:ext cx="7086600" cy="57911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l"/>
              <a:t> 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3065" y="2170611"/>
            <a:ext cx="3628786" cy="4162372"/>
          </a:xfrm>
        </p:spPr>
        <p:txBody>
          <a:bodyPr rtlCol="0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29813" y="6426091"/>
            <a:ext cx="3144025" cy="365125"/>
          </a:xfrm>
        </p:spPr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Ευθεία γραμμή σύνδεσης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8153400" y="1892587"/>
            <a:ext cx="350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65864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Περιεχόμενο με εικόνα 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555" y="512011"/>
            <a:ext cx="6792069" cy="1259920"/>
          </a:xfrm>
        </p:spPr>
        <p:txBody>
          <a:bodyPr rtlCol="0" anchor="b"/>
          <a:lstStyle/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10" name="Θέση εικόνας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399"/>
            <a:ext cx="3886200" cy="5791201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l"/>
              <a:t> </a:t>
            </a: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137143" cy="365125"/>
          </a:xfrm>
        </p:spPr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555" y="2148840"/>
            <a:ext cx="6792069" cy="4162372"/>
          </a:xfrm>
        </p:spPr>
        <p:txBody>
          <a:bodyPr rtlCol="0"/>
          <a:lstStyle/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Ευθεία γραμμή σύνδεσης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4953000" y="1892587"/>
            <a:ext cx="67056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0973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Περιεχόμενο με εικόνα 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935" y="691867"/>
            <a:ext cx="3052570" cy="2011680"/>
          </a:xfrm>
        </p:spPr>
        <p:txBody>
          <a:bodyPr rtlCol="0"/>
          <a:lstStyle/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14" name="Θέση εικόνας 8">
            <a:extLst>
              <a:ext uri="{FF2B5EF4-FFF2-40B4-BE49-F238E27FC236}">
                <a16:creationId xmlns:a16="http://schemas.microsoft.com/office/drawing/2014/main" id="{6BC46AA6-BED0-04C6-38E0-12160144CC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399" y="533400"/>
            <a:ext cx="7667626" cy="5788757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/>
            </a:lvl1pPr>
          </a:lstStyle>
          <a:p>
            <a:pPr lvl="0" rtl="0"/>
            <a:r>
              <a:rPr lang="el"/>
              <a:t> 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1935" y="2889848"/>
            <a:ext cx="3052570" cy="3434752"/>
          </a:xfrm>
        </p:spPr>
        <p:txBody>
          <a:bodyPr rtlCol="0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18" name="Θέση υποσέλιδου 17">
            <a:extLst>
              <a:ext uri="{FF2B5EF4-FFF2-40B4-BE49-F238E27FC236}">
                <a16:creationId xmlns:a16="http://schemas.microsoft.com/office/drawing/2014/main" id="{5C6323EE-3C7E-2716-8BD0-C89545F04F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17" name="Θέση ημερομηνίας 16">
            <a:extLst>
              <a:ext uri="{FF2B5EF4-FFF2-40B4-BE49-F238E27FC236}">
                <a16:creationId xmlns:a16="http://schemas.microsoft.com/office/drawing/2014/main" id="{F01E841F-9F6D-0E74-84D5-4BA2AF78F5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19" name="Θέση αριθμού διαφάνειας 18">
            <a:extLst>
              <a:ext uri="{FF2B5EF4-FFF2-40B4-BE49-F238E27FC236}">
                <a16:creationId xmlns:a16="http://schemas.microsoft.com/office/drawing/2014/main" id="{ACE2DCFD-EFAB-71DF-776D-014822C0AB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Ευθεία γραμμή σύνδεσης 6">
            <a:extLst>
              <a:ext uri="{FF2B5EF4-FFF2-40B4-BE49-F238E27FC236}">
                <a16:creationId xmlns:a16="http://schemas.microsoft.com/office/drawing/2014/main" id="{2CFBB608-C785-A34D-1B6D-96361A676495}"/>
              </a:ext>
            </a:extLst>
          </p:cNvPr>
          <p:cNvCxnSpPr>
            <a:cxnSpLocks/>
          </p:cNvCxnSpPr>
          <p:nvPr/>
        </p:nvCxnSpPr>
        <p:spPr>
          <a:xfrm>
            <a:off x="8727541" y="533400"/>
            <a:ext cx="293106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86612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Περιεχόμενο με εικόνα 1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1" y="691866"/>
            <a:ext cx="3448141" cy="2247273"/>
          </a:xfrm>
        </p:spPr>
        <p:txBody>
          <a:bodyPr rtlCol="0"/>
          <a:lstStyle/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10" name="Θέση εικόνας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19600" y="530353"/>
            <a:ext cx="7239000" cy="4019112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l"/>
              <a:t> 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5470" y="4735286"/>
            <a:ext cx="7239000" cy="1424879"/>
          </a:xfrm>
        </p:spPr>
        <p:txBody>
          <a:bodyPr rtlCol="0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Ευθεία γραμμή σύνδεσης 6">
            <a:extLst>
              <a:ext uri="{FF2B5EF4-FFF2-40B4-BE49-F238E27FC236}">
                <a16:creationId xmlns:a16="http://schemas.microsoft.com/office/drawing/2014/main" id="{4A0C081E-1CAD-8E64-5453-4CC21A0A90FD}"/>
              </a:ext>
            </a:extLst>
          </p:cNvPr>
          <p:cNvCxnSpPr>
            <a:cxnSpLocks/>
          </p:cNvCxnSpPr>
          <p:nvPr/>
        </p:nvCxnSpPr>
        <p:spPr>
          <a:xfrm>
            <a:off x="530274" y="530352"/>
            <a:ext cx="3354124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Ευθεία γραμμή σύνδεσης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3400" y="6326367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16834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Περιεχόμενο με εικόνα 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56" y="691866"/>
            <a:ext cx="3540062" cy="2247273"/>
          </a:xfrm>
        </p:spPr>
        <p:txBody>
          <a:bodyPr rtlCol="0"/>
          <a:lstStyle/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10" name="Θέση εικόνας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19600" y="533400"/>
            <a:ext cx="7239000" cy="3157452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l"/>
              <a:t> 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0" y="3933645"/>
            <a:ext cx="7261323" cy="2382111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/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Ευθεία γραμμή σύνδεσης 6">
            <a:extLst>
              <a:ext uri="{FF2B5EF4-FFF2-40B4-BE49-F238E27FC236}">
                <a16:creationId xmlns:a16="http://schemas.microsoft.com/office/drawing/2014/main" id="{4A0C081E-1CAD-8E64-5453-4CC21A0A90FD}"/>
              </a:ext>
            </a:extLst>
          </p:cNvPr>
          <p:cNvCxnSpPr>
            <a:cxnSpLocks/>
          </p:cNvCxnSpPr>
          <p:nvPr/>
        </p:nvCxnSpPr>
        <p:spPr>
          <a:xfrm>
            <a:off x="533400" y="530352"/>
            <a:ext cx="33528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Ευθεία γραμμή σύνδεσης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3400" y="6324542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Ευθεία γραμμή σύνδεσης 30">
            <a:extLst>
              <a:ext uri="{FF2B5EF4-FFF2-40B4-BE49-F238E27FC236}">
                <a16:creationId xmlns:a16="http://schemas.microsoft.com/office/drawing/2014/main" id="{FF4D8D45-8224-ED36-94DF-FAE863F412D1}"/>
              </a:ext>
            </a:extLst>
          </p:cNvPr>
          <p:cNvCxnSpPr>
            <a:cxnSpLocks/>
          </p:cNvCxnSpPr>
          <p:nvPr/>
        </p:nvCxnSpPr>
        <p:spPr>
          <a:xfrm>
            <a:off x="5013762" y="1892587"/>
            <a:ext cx="654409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9064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Περιεχόμενο με εικόνα 1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399" y="4829695"/>
            <a:ext cx="4289051" cy="1413164"/>
          </a:xfrm>
        </p:spPr>
        <p:txBody>
          <a:bodyPr rtlCol="0"/>
          <a:lstStyle/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10" name="Θέση εικόνας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11125200" cy="4013885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8000" sy="98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l"/>
              <a:t> </a:t>
            </a: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289051" cy="365125"/>
          </a:xfrm>
        </p:spPr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79" y="4829695"/>
            <a:ext cx="6554822" cy="1529541"/>
          </a:xfrm>
        </p:spPr>
        <p:txBody>
          <a:bodyPr rtlCol="0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1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Περιεχόμενο με εικόνα 1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910560"/>
            <a:ext cx="3472256" cy="2017604"/>
          </a:xfrm>
        </p:spPr>
        <p:txBody>
          <a:bodyPr rtlCol="0"/>
          <a:lstStyle/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10" name="Θέση εικόνας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399" y="533400"/>
            <a:ext cx="11125201" cy="3109082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8000" sy="98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l"/>
              <a:t> </a:t>
            </a: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0" y="3912655"/>
            <a:ext cx="7239000" cy="2407394"/>
          </a:xfrm>
        </p:spPr>
        <p:txBody>
          <a:bodyPr rtlCol="0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561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Περιεχόμενο με εικόνα 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700185"/>
            <a:ext cx="3473587" cy="1815364"/>
          </a:xfrm>
        </p:spPr>
        <p:txBody>
          <a:bodyPr rtlCol="0"/>
          <a:lstStyle/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1" y="702280"/>
            <a:ext cx="7239000" cy="2240920"/>
          </a:xfrm>
        </p:spPr>
        <p:txBody>
          <a:bodyPr rtlCol="0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10" name="Θέση εικόνας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3205927"/>
            <a:ext cx="11125200" cy="311867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7000" sy="97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l"/>
              <a:t> </a:t>
            </a: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Ευθεία γραμμή σύνδεσης 6">
            <a:extLst>
              <a:ext uri="{FF2B5EF4-FFF2-40B4-BE49-F238E27FC236}">
                <a16:creationId xmlns:a16="http://schemas.microsoft.com/office/drawing/2014/main" id="{7A9BF7A8-7F92-8C69-89EE-92496D80C1C2}"/>
              </a:ext>
            </a:extLst>
          </p:cNvPr>
          <p:cNvCxnSpPr>
            <a:cxnSpLocks/>
          </p:cNvCxnSpPr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38869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Περιεχόμενο με εικόνα 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760"/>
            <a:ext cx="11243982" cy="914400"/>
          </a:xfrm>
        </p:spPr>
        <p:txBody>
          <a:bodyPr rtlCol="0" anchor="b"/>
          <a:lstStyle/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10" name="Θέση εικόνας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0352" y="1720219"/>
            <a:ext cx="6022848" cy="4604382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l"/>
              <a:t> 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1260" y="1623629"/>
            <a:ext cx="4557340" cy="4706251"/>
          </a:xfrm>
        </p:spPr>
        <p:txBody>
          <a:bodyPr rtlCol="0"/>
          <a:lstStyle/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9" name="Θέση υποσέλιδου 8">
            <a:extLst>
              <a:ext uri="{FF2B5EF4-FFF2-40B4-BE49-F238E27FC236}">
                <a16:creationId xmlns:a16="http://schemas.microsoft.com/office/drawing/2014/main" id="{8BAA5E08-9FB8-6BC2-0794-A92E1336B9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8" name="Θέση ημερομηνίας 7">
            <a:extLst>
              <a:ext uri="{FF2B5EF4-FFF2-40B4-BE49-F238E27FC236}">
                <a16:creationId xmlns:a16="http://schemas.microsoft.com/office/drawing/2014/main" id="{17819C0A-5C58-B9A1-EDD9-43A971A8DE1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11" name="Θέση αριθμού διαφάνειας 10">
            <a:extLst>
              <a:ext uri="{FF2B5EF4-FFF2-40B4-BE49-F238E27FC236}">
                <a16:creationId xmlns:a16="http://schemas.microsoft.com/office/drawing/2014/main" id="{EC8A4CD6-C6D7-317B-80FA-CA83089B05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Ευθεία γραμμή σύνδεσης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530352" y="1353312"/>
            <a:ext cx="11141874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959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Περιεχόμενο με εικόνα 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55" y="691867"/>
            <a:ext cx="4067721" cy="1559555"/>
          </a:xfrm>
        </p:spPr>
        <p:txBody>
          <a:bodyPr rtlCol="0"/>
          <a:lstStyle/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10" name="Θέση εικόνας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2521819"/>
            <a:ext cx="3886200" cy="380278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l"/>
              <a:t> 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0685" y="694944"/>
            <a:ext cx="6705600" cy="5629656"/>
          </a:xfrm>
        </p:spPr>
        <p:txBody>
          <a:bodyPr rtlCol="0"/>
          <a:lstStyle/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3984743" cy="365125"/>
          </a:xfrm>
        </p:spPr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6677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Περιεχόμενο με εικόνα 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295957"/>
            <a:ext cx="4000501" cy="1889558"/>
          </a:xfrm>
        </p:spPr>
        <p:txBody>
          <a:bodyPr rtlCol="0"/>
          <a:lstStyle/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10" name="Θέση εικόνας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1891"/>
            <a:ext cx="3886202" cy="360359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l"/>
              <a:t> 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1" y="694944"/>
            <a:ext cx="6705599" cy="5506798"/>
          </a:xfrm>
        </p:spPr>
        <p:txBody>
          <a:bodyPr rtlCol="0"/>
          <a:lstStyle/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11" name="Θέση υποσέλιδου 10">
            <a:extLst>
              <a:ext uri="{FF2B5EF4-FFF2-40B4-BE49-F238E27FC236}">
                <a16:creationId xmlns:a16="http://schemas.microsoft.com/office/drawing/2014/main" id="{2354F31B-6E0C-9ACF-A3B4-2BE5DD2D21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9" name="Θέση ημερομηνίας 8">
            <a:extLst>
              <a:ext uri="{FF2B5EF4-FFF2-40B4-BE49-F238E27FC236}">
                <a16:creationId xmlns:a16="http://schemas.microsoft.com/office/drawing/2014/main" id="{1D4992A1-A620-24C8-73C6-0C53DD6F386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12" name="Θέση αριθμού διαφάνειας 11">
            <a:extLst>
              <a:ext uri="{FF2B5EF4-FFF2-40B4-BE49-F238E27FC236}">
                <a16:creationId xmlns:a16="http://schemas.microsoft.com/office/drawing/2014/main" id="{F2384E85-ACDE-270D-7478-1B88F47F14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Ευθεία γραμμή σύνδεσης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53001" y="531891"/>
            <a:ext cx="670559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Ευθεία γραμμή σύνδεσης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3399" y="6324600"/>
            <a:ext cx="1112520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02059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Αριθμός μεγάλου μεγέθους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889" y="5074607"/>
            <a:ext cx="11166223" cy="1068234"/>
          </a:xfrm>
        </p:spPr>
        <p:txBody>
          <a:bodyPr rtlCol="0" anchor="ctr">
            <a:normAutofit/>
          </a:bodyPr>
          <a:lstStyle>
            <a:lvl1pPr algn="ctr"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l"/>
              <a:t>Κάντε κλικ για επεξεργασία κειμένου</a:t>
            </a:r>
          </a:p>
        </p:txBody>
      </p:sp>
      <p:sp>
        <p:nvSpPr>
          <p:cNvPr id="7" name="Θέση περιεχομένου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6419" y="495833"/>
            <a:ext cx="11159163" cy="4245996"/>
          </a:xfrm>
        </p:spPr>
        <p:txBody>
          <a:bodyPr rtlCol="0"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32000" cap="none" baseline="0">
                <a:solidFill>
                  <a:schemeClr val="accent1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2400" cap="none" baseline="0">
                <a:solidFill>
                  <a:schemeClr val="tx1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2000" cap="none" baseline="0">
                <a:solidFill>
                  <a:schemeClr val="tx1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1800" cap="none" baseline="0">
                <a:solidFill>
                  <a:schemeClr val="tx1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1600" cap="none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 rtl="0"/>
            <a:r>
              <a:rPr lang="el"/>
              <a:t>##%</a:t>
            </a:r>
          </a:p>
        </p:txBody>
      </p:sp>
      <p:sp>
        <p:nvSpPr>
          <p:cNvPr id="13" name="Θέση υποσέλιδου 12">
            <a:extLst>
              <a:ext uri="{FF2B5EF4-FFF2-40B4-BE49-F238E27FC236}">
                <a16:creationId xmlns:a16="http://schemas.microsoft.com/office/drawing/2014/main" id="{FADD3D14-222C-BA8A-E4C0-8637820CBA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12" name="Θέση ημερομηνίας 11">
            <a:extLst>
              <a:ext uri="{FF2B5EF4-FFF2-40B4-BE49-F238E27FC236}">
                <a16:creationId xmlns:a16="http://schemas.microsoft.com/office/drawing/2014/main" id="{7FEF00E3-D3E5-F5AF-F035-66A1547A06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14" name="Θέση αριθμού διαφάνειας 13">
            <a:extLst>
              <a:ext uri="{FF2B5EF4-FFF2-40B4-BE49-F238E27FC236}">
                <a16:creationId xmlns:a16="http://schemas.microsoft.com/office/drawing/2014/main" id="{37222D35-3F63-3753-6F10-57879AFE3C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Ευθεία γραμμή σύνδεσης 5">
            <a:extLst>
              <a:ext uri="{FF2B5EF4-FFF2-40B4-BE49-F238E27FC236}">
                <a16:creationId xmlns:a16="http://schemas.microsoft.com/office/drawing/2014/main" id="{96998540-FFAB-625C-C2E6-DC04B074A2C4}"/>
              </a:ext>
            </a:extLst>
          </p:cNvPr>
          <p:cNvCxnSpPr>
            <a:cxnSpLocks/>
          </p:cNvCxnSpPr>
          <p:nvPr/>
        </p:nvCxnSpPr>
        <p:spPr>
          <a:xfrm>
            <a:off x="530352" y="483966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Ευθεία γραμμή σύνδεσης 7">
            <a:extLst>
              <a:ext uri="{FF2B5EF4-FFF2-40B4-BE49-F238E27FC236}">
                <a16:creationId xmlns:a16="http://schemas.microsoft.com/office/drawing/2014/main" id="{9FE9B0A1-4C47-68AF-0383-4819E2242D4E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561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Αριθμός μεγάλου 2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889" y="5074607"/>
            <a:ext cx="11166223" cy="1068234"/>
          </a:xfrm>
        </p:spPr>
        <p:txBody>
          <a:bodyPr rtlCol="0" anchor="ctr">
            <a:normAutofit/>
          </a:bodyPr>
          <a:lstStyle>
            <a:lvl1pPr algn="ctr"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l"/>
              <a:t>Κάντε κλικ για επεξεργασία κειμένου</a:t>
            </a:r>
          </a:p>
        </p:txBody>
      </p:sp>
      <p:sp>
        <p:nvSpPr>
          <p:cNvPr id="7" name="Θέση περιεχομένου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6419" y="684675"/>
            <a:ext cx="11159163" cy="4229674"/>
          </a:xfrm>
        </p:spPr>
        <p:txBody>
          <a:bodyPr rtlCol="0"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32000" cap="none" baseline="0">
                <a:solidFill>
                  <a:schemeClr val="tx1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2400" cap="none" baseline="0">
                <a:solidFill>
                  <a:schemeClr val="tx1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2000" cap="none" baseline="0">
                <a:solidFill>
                  <a:schemeClr val="tx1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1800" cap="none" baseline="0">
                <a:solidFill>
                  <a:schemeClr val="tx1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1600" cap="none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 rtl="0"/>
            <a:r>
              <a:rPr lang="el"/>
              <a:t>##%</a:t>
            </a:r>
          </a:p>
        </p:txBody>
      </p:sp>
      <p:sp>
        <p:nvSpPr>
          <p:cNvPr id="10" name="Θέση υποσέλιδου 9">
            <a:extLst>
              <a:ext uri="{FF2B5EF4-FFF2-40B4-BE49-F238E27FC236}">
                <a16:creationId xmlns:a16="http://schemas.microsoft.com/office/drawing/2014/main" id="{897B8847-6473-457E-E96C-6389E70595B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9" name="Θέση ημερομηνίας 8">
            <a:extLst>
              <a:ext uri="{FF2B5EF4-FFF2-40B4-BE49-F238E27FC236}">
                <a16:creationId xmlns:a16="http://schemas.microsoft.com/office/drawing/2014/main" id="{397385FA-3FF0-FCCA-55E3-8E053BA2CA4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4/8/2025</a:t>
            </a:r>
          </a:p>
        </p:txBody>
      </p:sp>
      <p:sp>
        <p:nvSpPr>
          <p:cNvPr id="11" name="Θέση αριθμού διαφάνειας 10">
            <a:extLst>
              <a:ext uri="{FF2B5EF4-FFF2-40B4-BE49-F238E27FC236}">
                <a16:creationId xmlns:a16="http://schemas.microsoft.com/office/drawing/2014/main" id="{E72B5E7B-6D54-E7B9-4307-C655E0BCABB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Ευθεία γραμμή σύνδεσης 5">
            <a:extLst>
              <a:ext uri="{FF2B5EF4-FFF2-40B4-BE49-F238E27FC236}">
                <a16:creationId xmlns:a16="http://schemas.microsoft.com/office/drawing/2014/main" id="{96998540-FFAB-625C-C2E6-DC04B074A2C4}"/>
              </a:ext>
            </a:extLst>
          </p:cNvPr>
          <p:cNvCxnSpPr>
            <a:cxnSpLocks/>
          </p:cNvCxnSpPr>
          <p:nvPr/>
        </p:nvCxnSpPr>
        <p:spPr>
          <a:xfrm>
            <a:off x="530352" y="4839664"/>
            <a:ext cx="1115916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Ευθεία γραμμή σύνδεσης 7">
            <a:extLst>
              <a:ext uri="{FF2B5EF4-FFF2-40B4-BE49-F238E27FC236}">
                <a16:creationId xmlns:a16="http://schemas.microsoft.com/office/drawing/2014/main" id="{9FE9B0A1-4C47-68AF-0383-4819E2242D4E}"/>
              </a:ext>
            </a:extLst>
          </p:cNvPr>
          <p:cNvCxnSpPr>
            <a:cxnSpLocks/>
          </p:cNvCxnSpPr>
          <p:nvPr/>
        </p:nvCxnSpPr>
        <p:spPr>
          <a:xfrm>
            <a:off x="530352" y="6328597"/>
            <a:ext cx="1115916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76047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Αριθμός μεγάλου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1577" y="1673353"/>
            <a:ext cx="3287023" cy="351089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10000"/>
              </a:lnSpc>
              <a:defRPr lang="en-US" sz="2800" cap="none" baseline="0" dirty="0">
                <a:latin typeface="+mn-lt"/>
              </a:defRPr>
            </a:lvl1pPr>
          </a:lstStyle>
          <a:p>
            <a:pPr lvl="0" rtl="0"/>
            <a:r>
              <a:rPr lang="el"/>
              <a:t>Κάντε κλικ για επεξεργασία κειμένου</a:t>
            </a:r>
          </a:p>
        </p:txBody>
      </p:sp>
      <p:sp>
        <p:nvSpPr>
          <p:cNvPr id="7" name="Θέση περιεχομένου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59" y="1328272"/>
            <a:ext cx="7445950" cy="4169651"/>
          </a:xfrm>
        </p:spPr>
        <p:txBody>
          <a:bodyPr rtlCol="0"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23700" cap="none" baseline="0">
                <a:solidFill>
                  <a:schemeClr val="accent1"/>
                </a:solidFill>
                <a:latin typeface="+mj-lt"/>
              </a:defRPr>
            </a:lvl1pPr>
            <a:lvl2pPr marL="228600" indent="0" algn="l">
              <a:lnSpc>
                <a:spcPct val="110000"/>
              </a:lnSpc>
              <a:buNone/>
              <a:defRPr sz="2400" cap="none" baseline="0">
                <a:solidFill>
                  <a:schemeClr val="bg1"/>
                </a:solidFill>
              </a:defRPr>
            </a:lvl2pPr>
            <a:lvl3pPr marL="457200" indent="0" algn="l">
              <a:lnSpc>
                <a:spcPct val="110000"/>
              </a:lnSpc>
              <a:buNone/>
              <a:defRPr sz="2000" cap="none" baseline="0">
                <a:solidFill>
                  <a:schemeClr val="bg1"/>
                </a:solidFill>
              </a:defRPr>
            </a:lvl3pPr>
            <a:lvl4pPr marL="685800" indent="0" algn="l">
              <a:lnSpc>
                <a:spcPct val="110000"/>
              </a:lnSpc>
              <a:buNone/>
              <a:defRPr sz="1800" cap="none" baseline="0">
                <a:solidFill>
                  <a:schemeClr val="bg1"/>
                </a:solidFill>
              </a:defRPr>
            </a:lvl4pPr>
            <a:lvl5pPr marL="914400" indent="0" algn="l">
              <a:lnSpc>
                <a:spcPct val="110000"/>
              </a:lnSpc>
              <a:buNone/>
              <a:defRPr sz="1600" cap="none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l"/>
              <a:t>##%</a:t>
            </a:r>
          </a:p>
        </p:txBody>
      </p:sp>
      <p:sp>
        <p:nvSpPr>
          <p:cNvPr id="11" name="Θέση υποσέλιδου 10">
            <a:extLst>
              <a:ext uri="{FF2B5EF4-FFF2-40B4-BE49-F238E27FC236}">
                <a16:creationId xmlns:a16="http://schemas.microsoft.com/office/drawing/2014/main" id="{446459C9-E9DA-926C-F0C0-5EEDE696077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8" name="Θέση ημερομηνίας 7">
            <a:extLst>
              <a:ext uri="{FF2B5EF4-FFF2-40B4-BE49-F238E27FC236}">
                <a16:creationId xmlns:a16="http://schemas.microsoft.com/office/drawing/2014/main" id="{C1D02E87-8057-8AC7-6F57-2066BA1BC9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12" name="Θέση αριθμού διαφάνειας 11">
            <a:extLst>
              <a:ext uri="{FF2B5EF4-FFF2-40B4-BE49-F238E27FC236}">
                <a16:creationId xmlns:a16="http://schemas.microsoft.com/office/drawing/2014/main" id="{52EFA3D8-21DC-0E04-B4E7-4C502496DF9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Ευθεία γραμμή σύνδεσης 8">
            <a:extLst>
              <a:ext uri="{FF2B5EF4-FFF2-40B4-BE49-F238E27FC236}">
                <a16:creationId xmlns:a16="http://schemas.microsoft.com/office/drawing/2014/main" id="{2426DA2D-1FAE-447C-839B-22F6F0CB343E}"/>
              </a:ext>
            </a:extLst>
          </p:cNvPr>
          <p:cNvCxnSpPr>
            <a:cxnSpLocks/>
          </p:cNvCxnSpPr>
          <p:nvPr/>
        </p:nvCxnSpPr>
        <p:spPr>
          <a:xfrm>
            <a:off x="516418" y="1198471"/>
            <a:ext cx="111421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Ευθεία γραμμή σύνδεσης 9">
            <a:extLst>
              <a:ext uri="{FF2B5EF4-FFF2-40B4-BE49-F238E27FC236}">
                <a16:creationId xmlns:a16="http://schemas.microsoft.com/office/drawing/2014/main" id="{29FD6543-37F0-7721-32E4-3B3C905CC66D}"/>
              </a:ext>
            </a:extLst>
          </p:cNvPr>
          <p:cNvCxnSpPr>
            <a:cxnSpLocks/>
          </p:cNvCxnSpPr>
          <p:nvPr/>
        </p:nvCxnSpPr>
        <p:spPr>
          <a:xfrm>
            <a:off x="530352" y="5638290"/>
            <a:ext cx="1114924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91757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Δήλωση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/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7" name="Θέση περιεχομένου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1480" y="722376"/>
            <a:ext cx="10762488" cy="54589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7200" cap="all" baseline="0" dirty="0">
                <a:latin typeface="+mj-lt"/>
              </a:defRPr>
            </a:lvl1pPr>
            <a:lvl2pPr marL="457200" indent="0">
              <a:lnSpc>
                <a:spcPct val="90000"/>
              </a:lnSpc>
              <a:buNone/>
              <a:defRPr lang="en-US" sz="6600" cap="all" baseline="0" dirty="0">
                <a:latin typeface="+mj-lt"/>
              </a:defRPr>
            </a:lvl2pPr>
            <a:lvl3pPr marL="9144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3pPr>
            <a:lvl4pPr marL="13716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4pPr>
            <a:lvl5pPr marL="18288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5pPr>
          </a:lstStyle>
          <a:p>
            <a:pPr lvl="0" rtl="0"/>
            <a:r>
              <a:rPr lang="el"/>
              <a:t>Κάντε κλικ για επεξεργασία της πρότασης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</a:p>
        </p:txBody>
      </p:sp>
      <p:sp>
        <p:nvSpPr>
          <p:cNvPr id="10" name="Θέση υποσέλιδου 9">
            <a:extLst>
              <a:ext uri="{FF2B5EF4-FFF2-40B4-BE49-F238E27FC236}">
                <a16:creationId xmlns:a16="http://schemas.microsoft.com/office/drawing/2014/main" id="{B4B05AAB-D167-637A-451A-510AF3173A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6" name="Θέση ημερομηνίας 5">
            <a:extLst>
              <a:ext uri="{FF2B5EF4-FFF2-40B4-BE49-F238E27FC236}">
                <a16:creationId xmlns:a16="http://schemas.microsoft.com/office/drawing/2014/main" id="{A28B3CFC-5715-1685-A039-A3162E1A6D0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4/8/2025</a:t>
            </a:r>
          </a:p>
        </p:txBody>
      </p:sp>
      <p:sp>
        <p:nvSpPr>
          <p:cNvPr id="11" name="Θέση αριθμού διαφάνειας 10">
            <a:extLst>
              <a:ext uri="{FF2B5EF4-FFF2-40B4-BE49-F238E27FC236}">
                <a16:creationId xmlns:a16="http://schemas.microsoft.com/office/drawing/2014/main" id="{B5256ABD-1750-68C8-B3DD-DDDA3342C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DD84031F-D6BF-4677-B12E-7D8B88BA70F7}" type="slidenum">
              <a:rPr lang="en-US" smtClean="0"/>
              <a:pPr rtl="0"/>
              <a:t>‹#›</a:t>
            </a:fld>
            <a:endParaRPr lang="en-US"/>
          </a:p>
        </p:txBody>
      </p:sp>
      <p:cxnSp>
        <p:nvCxnSpPr>
          <p:cNvPr id="8" name="Ευθεία γραμμή σύνδεσης 7">
            <a:extLst>
              <a:ext uri="{FF2B5EF4-FFF2-40B4-BE49-F238E27FC236}">
                <a16:creationId xmlns:a16="http://schemas.microsoft.com/office/drawing/2014/main" id="{07C0A4E9-267E-8FCC-AB27-70F0E33E2D79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Ευθεία γραμμή σύνδεσης 8">
            <a:extLst>
              <a:ext uri="{FF2B5EF4-FFF2-40B4-BE49-F238E27FC236}">
                <a16:creationId xmlns:a16="http://schemas.microsoft.com/office/drawing/2014/main" id="{97A1B5A9-A34C-A393-09C0-174C561F5FBF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4594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Πρόταση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/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7" name="Θέση περιεχομένου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0415" y="717754"/>
            <a:ext cx="10758791" cy="5458159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lang="en-US" sz="7200" b="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lnSpc>
                <a:spcPct val="90000"/>
              </a:lnSpc>
              <a:spcBef>
                <a:spcPts val="1000"/>
              </a:spcBef>
              <a:buNone/>
              <a:defRPr lang="en-US" sz="6600" b="0" cap="all" baseline="0" dirty="0">
                <a:solidFill>
                  <a:schemeClr val="accent1"/>
                </a:solidFill>
                <a:latin typeface="+mj-lt"/>
              </a:defRPr>
            </a:lvl2pPr>
            <a:lvl3pPr marL="914400" indent="0">
              <a:lnSpc>
                <a:spcPct val="90000"/>
              </a:lnSpc>
              <a:spcBef>
                <a:spcPts val="1000"/>
              </a:spcBef>
              <a:buNone/>
              <a:defRPr lang="en-US" sz="6000" b="0" cap="all" baseline="0" dirty="0">
                <a:solidFill>
                  <a:schemeClr val="accent1"/>
                </a:solidFill>
                <a:latin typeface="+mj-lt"/>
              </a:defRPr>
            </a:lvl3pPr>
            <a:lvl4pPr marL="1371600" indent="0">
              <a:lnSpc>
                <a:spcPct val="90000"/>
              </a:lnSpc>
              <a:spcBef>
                <a:spcPts val="1000"/>
              </a:spcBef>
              <a:buNone/>
              <a:defRPr lang="en-US" sz="6000" b="0" cap="all" baseline="0" dirty="0">
                <a:solidFill>
                  <a:schemeClr val="accent1"/>
                </a:solidFill>
                <a:latin typeface="+mj-lt"/>
              </a:defRPr>
            </a:lvl4pPr>
            <a:lvl5pPr marL="1828800" indent="0">
              <a:lnSpc>
                <a:spcPct val="90000"/>
              </a:lnSpc>
              <a:spcBef>
                <a:spcPts val="1000"/>
              </a:spcBef>
              <a:buNone/>
              <a:defRPr lang="en-US" sz="6000" b="0" cap="all" baseline="0" dirty="0">
                <a:solidFill>
                  <a:schemeClr val="accent1"/>
                </a:solidFill>
                <a:latin typeface="+mj-lt"/>
              </a:defRPr>
            </a:lvl5pPr>
          </a:lstStyle>
          <a:p>
            <a:pPr marL="228600" lvl="0" indent="-228600" rtl="0">
              <a:lnSpc>
                <a:spcPct val="90000"/>
              </a:lnSpc>
              <a:spcBef>
                <a:spcPct val="0"/>
              </a:spcBef>
            </a:pPr>
            <a:r>
              <a:rPr lang="el"/>
              <a:t>Κάντε κλικ για επεξεργασία της πρότασης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Ευθεία γραμμή σύνδεσης 7">
            <a:extLst>
              <a:ext uri="{FF2B5EF4-FFF2-40B4-BE49-F238E27FC236}">
                <a16:creationId xmlns:a16="http://schemas.microsoft.com/office/drawing/2014/main" id="{B321C58F-32A5-353B-47A2-C43DAAB8F254}"/>
              </a:ext>
            </a:extLst>
          </p:cNvPr>
          <p:cNvCxnSpPr>
            <a:cxnSpLocks/>
          </p:cNvCxnSpPr>
          <p:nvPr/>
        </p:nvCxnSpPr>
        <p:spPr>
          <a:xfrm>
            <a:off x="530352" y="530352"/>
            <a:ext cx="1112824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Ευθεία γραμμή σύνδεσης 8">
            <a:extLst>
              <a:ext uri="{FF2B5EF4-FFF2-40B4-BE49-F238E27FC236}">
                <a16:creationId xmlns:a16="http://schemas.microsoft.com/office/drawing/2014/main" id="{97A1B5A9-A34C-A393-09C0-174C561F5FBF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2824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086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Πρόταση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/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7" name="Θέση περιεχομένου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50490" y="1828806"/>
            <a:ext cx="9291020" cy="3132569"/>
          </a:xfr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5400" b="0">
                <a:solidFill>
                  <a:schemeClr val="accent1"/>
                </a:solidFill>
              </a:defRPr>
            </a:lvl1pPr>
            <a:lvl2pPr marL="228600" indent="0" algn="ctr">
              <a:lnSpc>
                <a:spcPct val="100000"/>
              </a:lnSpc>
              <a:buNone/>
              <a:defRPr sz="4800" b="0">
                <a:solidFill>
                  <a:schemeClr val="accent1"/>
                </a:solidFill>
              </a:defRPr>
            </a:lvl2pPr>
            <a:lvl3pPr marL="457200" indent="0" algn="ctr">
              <a:lnSpc>
                <a:spcPct val="100000"/>
              </a:lnSpc>
              <a:buNone/>
              <a:defRPr sz="4400" b="0">
                <a:solidFill>
                  <a:schemeClr val="accent1"/>
                </a:solidFill>
              </a:defRPr>
            </a:lvl3pPr>
            <a:lvl4pPr marL="685800" indent="0" algn="ctr">
              <a:lnSpc>
                <a:spcPct val="100000"/>
              </a:lnSpc>
              <a:buNone/>
              <a:defRPr sz="4000" b="0">
                <a:solidFill>
                  <a:schemeClr val="accent1"/>
                </a:solidFill>
              </a:defRPr>
            </a:lvl4pPr>
            <a:lvl5pPr marL="914400" indent="0" algn="ctr">
              <a:lnSpc>
                <a:spcPct val="100000"/>
              </a:lnSpc>
              <a:buNone/>
              <a:defRPr sz="3600" b="0"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el"/>
              <a:t>Κάντε κλικ για επεξεργασία της πρότασης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Ευθεία γραμμή σύνδεσης 5">
            <a:extLst>
              <a:ext uri="{FF2B5EF4-FFF2-40B4-BE49-F238E27FC236}">
                <a16:creationId xmlns:a16="http://schemas.microsoft.com/office/drawing/2014/main" id="{99661B65-925C-C474-4671-6B5CBEB80093}"/>
              </a:ext>
            </a:extLst>
          </p:cNvPr>
          <p:cNvCxnSpPr>
            <a:cxnSpLocks/>
          </p:cNvCxnSpPr>
          <p:nvPr/>
        </p:nvCxnSpPr>
        <p:spPr>
          <a:xfrm>
            <a:off x="1405629" y="1164266"/>
            <a:ext cx="938668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Ευθεία γραμμή σύνδεσης 7">
            <a:extLst>
              <a:ext uri="{FF2B5EF4-FFF2-40B4-BE49-F238E27FC236}">
                <a16:creationId xmlns:a16="http://schemas.microsoft.com/office/drawing/2014/main" id="{59AEB70E-85D7-3389-E0B5-B0953E3D035D}"/>
              </a:ext>
            </a:extLst>
          </p:cNvPr>
          <p:cNvCxnSpPr>
            <a:cxnSpLocks/>
          </p:cNvCxnSpPr>
          <p:nvPr/>
        </p:nvCxnSpPr>
        <p:spPr>
          <a:xfrm>
            <a:off x="1399690" y="5693732"/>
            <a:ext cx="938668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3373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Απόσπασμα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9764" y="5486400"/>
            <a:ext cx="9472473" cy="939691"/>
          </a:xfrm>
        </p:spPr>
        <p:txBody>
          <a:bodyPr rtlCol="0" anchor="ctr">
            <a:normAutofit/>
          </a:bodyPr>
          <a:lstStyle>
            <a:lvl1pPr marL="137160" indent="-137160" algn="ctr">
              <a:lnSpc>
                <a:spcPct val="100000"/>
              </a:lnSpc>
              <a:defRPr sz="1800" cap="all" baseline="0">
                <a:latin typeface="+mj-lt"/>
              </a:defRPr>
            </a:lvl1pPr>
          </a:lstStyle>
          <a:p>
            <a:pPr rtl="0"/>
            <a:r>
              <a:rPr lang="el"/>
              <a:t>Συντάκτης αποσπάσματος</a:t>
            </a:r>
          </a:p>
        </p:txBody>
      </p:sp>
      <p:sp>
        <p:nvSpPr>
          <p:cNvPr id="7" name="Θέση περιεχομένου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59761" y="667511"/>
            <a:ext cx="9413534" cy="4010998"/>
          </a:xfr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4400" b="0" cap="none" spc="50" baseline="0">
                <a:solidFill>
                  <a:schemeClr val="accent1"/>
                </a:solidFill>
                <a:latin typeface="+mn-lt"/>
              </a:defRPr>
            </a:lvl1pPr>
            <a:lvl2pPr marL="228600" indent="0" algn="ctr">
              <a:lnSpc>
                <a:spcPct val="100000"/>
              </a:lnSpc>
              <a:buNone/>
              <a:defRPr sz="4000" b="0" cap="none" spc="50" baseline="0">
                <a:solidFill>
                  <a:schemeClr val="accent1"/>
                </a:solidFill>
                <a:latin typeface="+mn-lt"/>
              </a:defRPr>
            </a:lvl2pPr>
            <a:lvl3pPr marL="457200" indent="0" algn="ctr">
              <a:lnSpc>
                <a:spcPct val="100000"/>
              </a:lnSpc>
              <a:buNone/>
              <a:defRPr sz="3600" b="0" cap="none" spc="50" baseline="0">
                <a:solidFill>
                  <a:schemeClr val="accent1"/>
                </a:solidFill>
                <a:latin typeface="+mn-lt"/>
              </a:defRPr>
            </a:lvl3pPr>
            <a:lvl4pPr marL="685800" indent="0" algn="ctr">
              <a:lnSpc>
                <a:spcPct val="100000"/>
              </a:lnSpc>
              <a:buNone/>
              <a:defRPr sz="3200" b="0" cap="none" spc="50" baseline="0">
                <a:solidFill>
                  <a:schemeClr val="accent1"/>
                </a:solidFill>
                <a:latin typeface="+mn-lt"/>
              </a:defRPr>
            </a:lvl4pPr>
            <a:lvl5pPr marL="914400" indent="0" algn="ctr">
              <a:lnSpc>
                <a:spcPct val="100000"/>
              </a:lnSpc>
              <a:buNone/>
              <a:defRPr sz="2800" b="0" cap="none" spc="5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 rtl="0"/>
            <a:r>
              <a:rPr lang="el"/>
              <a:t>Κάντε κλικ για επεξεργασία αποσπάσματος</a:t>
            </a:r>
          </a:p>
        </p:txBody>
      </p:sp>
      <p:sp>
        <p:nvSpPr>
          <p:cNvPr id="9" name="Θέση υποσέλιδου 8">
            <a:extLst>
              <a:ext uri="{FF2B5EF4-FFF2-40B4-BE49-F238E27FC236}">
                <a16:creationId xmlns:a16="http://schemas.microsoft.com/office/drawing/2014/main" id="{468922A5-1A25-C2CB-DB6C-A2CCA7E6E6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8" name="Θέση ημερομηνίας 7">
            <a:extLst>
              <a:ext uri="{FF2B5EF4-FFF2-40B4-BE49-F238E27FC236}">
                <a16:creationId xmlns:a16="http://schemas.microsoft.com/office/drawing/2014/main" id="{7AB04756-BB80-4C64-D871-0ADC3A7778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10" name="Θέση αριθμού διαφάνειας 9">
            <a:extLst>
              <a:ext uri="{FF2B5EF4-FFF2-40B4-BE49-F238E27FC236}">
                <a16:creationId xmlns:a16="http://schemas.microsoft.com/office/drawing/2014/main" id="{3EF70E65-4C3D-A600-1367-6FBA2FDDE5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6C95B307-0002-4F55-5801-73F564B37804}"/>
              </a:ext>
            </a:extLst>
          </p:cNvPr>
          <p:cNvCxnSpPr>
            <a:cxnSpLocks/>
          </p:cNvCxnSpPr>
          <p:nvPr/>
        </p:nvCxnSpPr>
        <p:spPr>
          <a:xfrm>
            <a:off x="1399690" y="5178692"/>
            <a:ext cx="938668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5711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Απόσπασμα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1" y="5422793"/>
            <a:ext cx="8849802" cy="763321"/>
          </a:xfrm>
        </p:spPr>
        <p:txBody>
          <a:bodyPr rtlCol="0" anchor="t">
            <a:normAutofit/>
          </a:bodyPr>
          <a:lstStyle>
            <a:lvl1pPr marL="0" indent="0">
              <a:lnSpc>
                <a:spcPct val="100000"/>
              </a:lnSpc>
              <a:defRPr sz="20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l"/>
              <a:t>Συντάκτης αποσπάσματος</a:t>
            </a:r>
          </a:p>
        </p:txBody>
      </p:sp>
      <p:sp>
        <p:nvSpPr>
          <p:cNvPr id="7" name="Θέση περιεχομένου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5047" y="364321"/>
            <a:ext cx="8983395" cy="4379976"/>
          </a:xfrm>
        </p:spPr>
        <p:txBody>
          <a:bodyPr rtlCol="0" anchor="t">
            <a:normAutofit/>
          </a:bodyPr>
          <a:lstStyle>
            <a:lvl1pPr marL="137160" indent="-137160">
              <a:lnSpc>
                <a:spcPct val="100000"/>
              </a:lnSpc>
              <a:buNone/>
              <a:defRPr sz="5400" b="0" cap="none" spc="50" baseline="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 sz="1600" b="0" cap="all" spc="50" baseline="0">
                <a:solidFill>
                  <a:schemeClr val="tx1"/>
                </a:solidFill>
                <a:latin typeface="+mj-lt"/>
              </a:defRPr>
            </a:lvl2pPr>
            <a:lvl3pPr marL="457200" indent="0">
              <a:buNone/>
              <a:defRPr sz="1400" b="0" cap="all" spc="50" baseline="0">
                <a:solidFill>
                  <a:schemeClr val="tx1"/>
                </a:solidFill>
                <a:latin typeface="+mj-lt"/>
              </a:defRPr>
            </a:lvl3pPr>
            <a:lvl4pPr marL="685800" indent="0">
              <a:buNone/>
              <a:defRPr sz="1200" b="0" cap="all" spc="50" baseline="0">
                <a:solidFill>
                  <a:schemeClr val="tx1"/>
                </a:solidFill>
                <a:latin typeface="+mj-lt"/>
              </a:defRPr>
            </a:lvl4pPr>
            <a:lvl5pPr marL="914400" indent="0">
              <a:buNone/>
              <a:defRPr sz="1100" b="0" cap="all" spc="50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 rtl="0"/>
            <a:r>
              <a:rPr lang="el"/>
              <a:t>Κάντε κλικ για επεξεργασία αποσπάσματος</a:t>
            </a:r>
          </a:p>
        </p:txBody>
      </p:sp>
      <p:sp>
        <p:nvSpPr>
          <p:cNvPr id="11" name="Θέση υποσέλιδου 10">
            <a:extLst>
              <a:ext uri="{FF2B5EF4-FFF2-40B4-BE49-F238E27FC236}">
                <a16:creationId xmlns:a16="http://schemas.microsoft.com/office/drawing/2014/main" id="{BB573913-DF3D-A336-7766-2F2A4077FA2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10" name="Θέση ημερομηνίας 9">
            <a:extLst>
              <a:ext uri="{FF2B5EF4-FFF2-40B4-BE49-F238E27FC236}">
                <a16:creationId xmlns:a16="http://schemas.microsoft.com/office/drawing/2014/main" id="{82574524-6D35-F65F-291D-C661BC2839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12" name="Θέση αριθμού διαφάνειας 11">
            <a:extLst>
              <a:ext uri="{FF2B5EF4-FFF2-40B4-BE49-F238E27FC236}">
                <a16:creationId xmlns:a16="http://schemas.microsoft.com/office/drawing/2014/main" id="{551DEE08-81D7-3436-67E0-35E4159750B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Ευθεία γραμμή σύνδεσης 5">
            <a:extLst>
              <a:ext uri="{FF2B5EF4-FFF2-40B4-BE49-F238E27FC236}">
                <a16:creationId xmlns:a16="http://schemas.microsoft.com/office/drawing/2014/main" id="{1A1234A2-3E92-F2E2-45A7-60E39396715E}"/>
              </a:ext>
            </a:extLst>
          </p:cNvPr>
          <p:cNvCxnSpPr>
            <a:cxnSpLocks/>
          </p:cNvCxnSpPr>
          <p:nvPr/>
        </p:nvCxnSpPr>
        <p:spPr>
          <a:xfrm>
            <a:off x="530352" y="5184424"/>
            <a:ext cx="111421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Ευθεία γραμμή σύνδεσης 7">
            <a:extLst>
              <a:ext uri="{FF2B5EF4-FFF2-40B4-BE49-F238E27FC236}">
                <a16:creationId xmlns:a16="http://schemas.microsoft.com/office/drawing/2014/main" id="{51A2847D-BCD1-DEA8-DC65-258A4946768E}"/>
              </a:ext>
            </a:extLst>
          </p:cNvPr>
          <p:cNvCxnSpPr>
            <a:cxnSpLocks/>
          </p:cNvCxnSpPr>
          <p:nvPr/>
        </p:nvCxnSpPr>
        <p:spPr>
          <a:xfrm>
            <a:off x="530352" y="6326367"/>
            <a:ext cx="1115568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17328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Απόσπασμα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0302" y="5345083"/>
            <a:ext cx="10243537" cy="847899"/>
          </a:xfrm>
        </p:spPr>
        <p:txBody>
          <a:bodyPr rtlCol="0" anchor="ctr">
            <a:normAutofit/>
          </a:bodyPr>
          <a:lstStyle>
            <a:lvl1pPr marL="137160" indent="-137160" algn="ctr">
              <a:lnSpc>
                <a:spcPct val="110000"/>
              </a:lnSpc>
              <a:defRPr sz="1800" cap="none" baseline="0">
                <a:solidFill>
                  <a:schemeClr val="accent1"/>
                </a:solidFill>
                <a:latin typeface="+mn-lt"/>
              </a:defRPr>
            </a:lvl1pPr>
          </a:lstStyle>
          <a:p>
            <a:pPr rtl="0"/>
            <a:r>
              <a:rPr lang="el"/>
              <a:t>Συντάκτης αποσπάσματος</a:t>
            </a:r>
          </a:p>
        </p:txBody>
      </p:sp>
      <p:sp>
        <p:nvSpPr>
          <p:cNvPr id="7" name="Θέση περιεχομένου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30303" y="951364"/>
            <a:ext cx="10243536" cy="3794370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4400" b="0" cap="all" spc="50" baseline="0">
                <a:solidFill>
                  <a:schemeClr val="tx1"/>
                </a:solidFill>
                <a:latin typeface="+mj-lt"/>
              </a:defRPr>
            </a:lvl1pPr>
            <a:lvl2pPr marL="228600" indent="0">
              <a:buNone/>
              <a:defRPr sz="4400" b="0" cap="all" spc="50" baseline="0">
                <a:solidFill>
                  <a:schemeClr val="accent1"/>
                </a:solidFill>
                <a:latin typeface="+mj-lt"/>
              </a:defRPr>
            </a:lvl2pPr>
            <a:lvl3pPr marL="457200" indent="0">
              <a:buNone/>
              <a:defRPr sz="4400" b="0" cap="all" spc="50" baseline="0">
                <a:solidFill>
                  <a:schemeClr val="accent1"/>
                </a:solidFill>
                <a:latin typeface="+mj-lt"/>
              </a:defRPr>
            </a:lvl3pPr>
            <a:lvl4pPr marL="685800" indent="0">
              <a:buNone/>
              <a:defRPr sz="4400" b="0" cap="all" spc="50" baseline="0">
                <a:solidFill>
                  <a:schemeClr val="accent1"/>
                </a:solidFill>
                <a:latin typeface="+mj-lt"/>
              </a:defRPr>
            </a:lvl4pPr>
            <a:lvl5pPr marL="914400" indent="0">
              <a:buNone/>
              <a:defRPr sz="4400" b="0" cap="all" spc="50" baseline="0">
                <a:solidFill>
                  <a:schemeClr val="accent1"/>
                </a:solidFill>
                <a:latin typeface="+mj-lt"/>
              </a:defRPr>
            </a:lvl5pPr>
          </a:lstStyle>
          <a:p>
            <a:pPr lvl="0" rtl="0"/>
            <a:r>
              <a:rPr lang="el"/>
              <a:t>Κάντε κλικ για επεξεργασία αποσπάσματος</a:t>
            </a:r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Ευθεία γραμμή σύνδεσης 7">
            <a:extLst>
              <a:ext uri="{FF2B5EF4-FFF2-40B4-BE49-F238E27FC236}">
                <a16:creationId xmlns:a16="http://schemas.microsoft.com/office/drawing/2014/main" id="{56050A9D-B7C5-F464-79AD-0740B311B072}"/>
              </a:ext>
            </a:extLst>
          </p:cNvPr>
          <p:cNvCxnSpPr>
            <a:cxnSpLocks/>
          </p:cNvCxnSpPr>
          <p:nvPr/>
        </p:nvCxnSpPr>
        <p:spPr>
          <a:xfrm>
            <a:off x="524909" y="533400"/>
            <a:ext cx="111421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Ευθεία γραμμή σύνδεσης 5">
            <a:extLst>
              <a:ext uri="{FF2B5EF4-FFF2-40B4-BE49-F238E27FC236}">
                <a16:creationId xmlns:a16="http://schemas.microsoft.com/office/drawing/2014/main" id="{1A1234A2-3E92-F2E2-45A7-60E39396715E}"/>
              </a:ext>
            </a:extLst>
          </p:cNvPr>
          <p:cNvCxnSpPr>
            <a:cxnSpLocks/>
          </p:cNvCxnSpPr>
          <p:nvPr/>
        </p:nvCxnSpPr>
        <p:spPr>
          <a:xfrm>
            <a:off x="516418" y="5184424"/>
            <a:ext cx="111421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Ευθεία γραμμή σύνδεσης 8">
            <a:extLst>
              <a:ext uri="{FF2B5EF4-FFF2-40B4-BE49-F238E27FC236}">
                <a16:creationId xmlns:a16="http://schemas.microsoft.com/office/drawing/2014/main" id="{0F8BEE7C-4A94-0B15-16EB-46B45E9C057E}"/>
              </a:ext>
            </a:extLst>
          </p:cNvPr>
          <p:cNvCxnSpPr>
            <a:cxnSpLocks/>
          </p:cNvCxnSpPr>
          <p:nvPr/>
        </p:nvCxnSpPr>
        <p:spPr>
          <a:xfrm>
            <a:off x="507928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65540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Απόσπασμα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9764" y="5430743"/>
            <a:ext cx="9472473" cy="704081"/>
          </a:xfrm>
        </p:spPr>
        <p:txBody>
          <a:bodyPr rtlCol="0" anchor="ctr">
            <a:normAutofit/>
          </a:bodyPr>
          <a:lstStyle>
            <a:lvl1pPr marL="137160" indent="-137160" algn="ctr">
              <a:lnSpc>
                <a:spcPct val="100000"/>
              </a:lnSpc>
              <a:defRPr sz="18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l"/>
              <a:t>Συντάκτης αποσπάσματος</a:t>
            </a:r>
          </a:p>
        </p:txBody>
      </p:sp>
      <p:sp>
        <p:nvSpPr>
          <p:cNvPr id="7" name="Θέση περιεχομένου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59761" y="1081377"/>
            <a:ext cx="9413534" cy="3597131"/>
          </a:xfr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4400" b="0" cap="none" spc="50" baseline="0">
                <a:solidFill>
                  <a:schemeClr val="tx1"/>
                </a:solidFill>
                <a:latin typeface="+mn-lt"/>
              </a:defRPr>
            </a:lvl1pPr>
            <a:lvl2pPr marL="228600" indent="0" algn="ctr">
              <a:lnSpc>
                <a:spcPct val="100000"/>
              </a:lnSpc>
              <a:buNone/>
              <a:defRPr sz="4000" b="0" cap="none" spc="50" baseline="0">
                <a:solidFill>
                  <a:schemeClr val="accent1"/>
                </a:solidFill>
                <a:latin typeface="+mn-lt"/>
              </a:defRPr>
            </a:lvl2pPr>
            <a:lvl3pPr marL="457200" indent="0" algn="ctr">
              <a:lnSpc>
                <a:spcPct val="100000"/>
              </a:lnSpc>
              <a:buNone/>
              <a:defRPr sz="3600" b="0" cap="none" spc="50" baseline="0">
                <a:solidFill>
                  <a:schemeClr val="accent1"/>
                </a:solidFill>
                <a:latin typeface="+mn-lt"/>
              </a:defRPr>
            </a:lvl3pPr>
            <a:lvl4pPr marL="685800" indent="0" algn="ctr">
              <a:lnSpc>
                <a:spcPct val="100000"/>
              </a:lnSpc>
              <a:buNone/>
              <a:defRPr sz="3200" b="0" cap="none" spc="50" baseline="0">
                <a:solidFill>
                  <a:schemeClr val="accent1"/>
                </a:solidFill>
                <a:latin typeface="+mn-lt"/>
              </a:defRPr>
            </a:lvl4pPr>
            <a:lvl5pPr marL="914400" indent="0" algn="ctr">
              <a:lnSpc>
                <a:spcPct val="100000"/>
              </a:lnSpc>
              <a:buNone/>
              <a:defRPr sz="2800" b="0" cap="none" spc="5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 rtl="0"/>
            <a:r>
              <a:rPr lang="el"/>
              <a:t>Κάντε κλικ για επεξεργασία αποσπάσματος</a:t>
            </a:r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4/8/2025</a:t>
            </a:r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Ευθεία γραμμή σύνδεσης 9">
            <a:extLst>
              <a:ext uri="{FF2B5EF4-FFF2-40B4-BE49-F238E27FC236}">
                <a16:creationId xmlns:a16="http://schemas.microsoft.com/office/drawing/2014/main" id="{3FD77A43-F5D0-235F-35F0-CBDFCF048764}"/>
              </a:ext>
            </a:extLst>
          </p:cNvPr>
          <p:cNvCxnSpPr>
            <a:cxnSpLocks/>
          </p:cNvCxnSpPr>
          <p:nvPr/>
        </p:nvCxnSpPr>
        <p:spPr>
          <a:xfrm>
            <a:off x="530352" y="530352"/>
            <a:ext cx="1115916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Ευθεία γραμμή σύνδεσης 8">
            <a:extLst>
              <a:ext uri="{FF2B5EF4-FFF2-40B4-BE49-F238E27FC236}">
                <a16:creationId xmlns:a16="http://schemas.microsoft.com/office/drawing/2014/main" id="{D4577989-BB5F-9AF1-A65F-3B2D0FDB6368}"/>
              </a:ext>
            </a:extLst>
          </p:cNvPr>
          <p:cNvCxnSpPr>
            <a:cxnSpLocks/>
          </p:cNvCxnSpPr>
          <p:nvPr/>
        </p:nvCxnSpPr>
        <p:spPr>
          <a:xfrm>
            <a:off x="530352" y="5180630"/>
            <a:ext cx="1115916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Ευθεία γραμμή σύνδεσης 10">
            <a:extLst>
              <a:ext uri="{FF2B5EF4-FFF2-40B4-BE49-F238E27FC236}">
                <a16:creationId xmlns:a16="http://schemas.microsoft.com/office/drawing/2014/main" id="{B066E7AB-929A-6900-35D9-F1C66399874C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51579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Δύο περιεχόμενα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760"/>
            <a:ext cx="11239498" cy="914400"/>
          </a:xfrm>
        </p:spPr>
        <p:txBody>
          <a:bodyPr rtlCol="0" anchor="b"/>
          <a:lstStyle/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5FB8DBCC-227D-BB0A-7CD5-02D66CF1874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1714500"/>
            <a:ext cx="5305425" cy="4389438"/>
          </a:xfrm>
        </p:spPr>
        <p:txBody>
          <a:bodyPr rtlCol="0"/>
          <a:lstStyle/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0DBB7E01-A7E6-1882-4E9B-8EABAF71F96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936" y="1719072"/>
            <a:ext cx="5321808" cy="4390545"/>
          </a:xfrm>
        </p:spPr>
        <p:txBody>
          <a:bodyPr rtlCol="0"/>
          <a:lstStyle/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Ευθεία γραμμή σύνδεσης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3400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02733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Σύγκριση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365760"/>
            <a:ext cx="11256264" cy="914400"/>
          </a:xfrm>
        </p:spPr>
        <p:txBody>
          <a:bodyPr rtlCol="0" anchor="b"/>
          <a:lstStyle/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048" y="1490472"/>
            <a:ext cx="5321808" cy="642902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l"/>
              <a:t>Στυλ υποδείγματος κειμένου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8CEFD932-A581-1A49-7FAF-0FED2E2BC18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2212975"/>
            <a:ext cx="5303838" cy="3892550"/>
          </a:xfrm>
        </p:spPr>
        <p:txBody>
          <a:bodyPr rtlCol="0"/>
          <a:lstStyle/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1490472"/>
            <a:ext cx="5321808" cy="642902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l"/>
              <a:t>Στυλ υποδείγματος κειμένου</a:t>
            </a:r>
          </a:p>
        </p:txBody>
      </p:sp>
      <p:sp>
        <p:nvSpPr>
          <p:cNvPr id="12" name="Θέση περιεχομένου 11">
            <a:extLst>
              <a:ext uri="{FF2B5EF4-FFF2-40B4-BE49-F238E27FC236}">
                <a16:creationId xmlns:a16="http://schemas.microsoft.com/office/drawing/2014/main" id="{554404BD-8F2F-278E-C00B-3F1B1DE8CF2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238" y="2212975"/>
            <a:ext cx="5321808" cy="3892550"/>
          </a:xfrm>
        </p:spPr>
        <p:txBody>
          <a:bodyPr rtlCol="0"/>
          <a:lstStyle/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Ευθεία γραμμή σύνδεσης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2990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Μόνο τίτλος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D53695F-5E74-A380-8592-35FB6FC7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09C6149D-58D4-7497-818C-CF30244A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8E8D2567-C532-BD45-FA85-03DBE3B3C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ABC0E491-56EB-F527-8A63-FBEEE619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0742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Κενό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6FE9D82C-4607-0C9D-F241-D35DBEFE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B4DCFCC5-7F8E-F549-57BA-7303E9F1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457BEB6A-C028-DA7D-C516-2F1316F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302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1F2BEA7-A772-B39C-F049-D8BA2D3F4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36" y="694943"/>
            <a:ext cx="3915473" cy="1325880"/>
          </a:xfrm>
        </p:spPr>
        <p:txBody>
          <a:bodyPr rtlCol="0" anchor="t"/>
          <a:lstStyle>
            <a:lvl1pPr>
              <a:defRPr sz="3200"/>
            </a:lvl1pPr>
          </a:lstStyle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0D5693C4-36AD-07F9-763E-EE5FC9DFB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3072" y="2057400"/>
            <a:ext cx="3932237" cy="4176906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l"/>
              <a:t>Στυλ υποδείγματος κειμένου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0FB4614-4148-D757-88D0-D93E5E1EA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94943"/>
            <a:ext cx="6483096" cy="55393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71AADC46-B01E-DA2E-F24C-C48F5253D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B71A6063-F591-A804-79FE-A80AD399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4BEFF439-6DA2-A61B-C94C-BEDC2411D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605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Εικόνα με λεζάντα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E8EFA5E-0A3D-E6AD-3C21-DC40BCDEC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694944"/>
            <a:ext cx="3526816" cy="1711825"/>
          </a:xfrm>
        </p:spPr>
        <p:txBody>
          <a:bodyPr rtlCol="0" anchor="t"/>
          <a:lstStyle>
            <a:lvl1pPr>
              <a:defRPr sz="3200"/>
            </a:lvl1pPr>
          </a:lstStyle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7CBA8418-7980-9A18-053B-82E4F16EB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5389" y="2508261"/>
            <a:ext cx="3520528" cy="3727948"/>
          </a:xfrm>
        </p:spPr>
        <p:txBody>
          <a:bodyPr rtlCol="0"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l"/>
              <a:t>Στυλ υποδείγματος κειμένου</a:t>
            </a:r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126F9F06-BE63-8EE7-74C5-6D0E3F9B7571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419600" y="533400"/>
            <a:ext cx="7239000" cy="57911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/>
            </a:lvl1pPr>
          </a:lstStyle>
          <a:p>
            <a:pPr lvl="0" rtl="0"/>
            <a:r>
              <a:rPr lang="el"/>
              <a:t> </a:t>
            </a:r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E7F485A3-3BFA-4B57-F6E5-5F41542B7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600AC9F0-6744-73C8-54FC-5C12BA7BF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31BAB9F6-C801-466A-4C39-23DCB1CD5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Ευθεία γραμμή σύνδεσης 8">
            <a:extLst>
              <a:ext uri="{FF2B5EF4-FFF2-40B4-BE49-F238E27FC236}">
                <a16:creationId xmlns:a16="http://schemas.microsoft.com/office/drawing/2014/main" id="{924215D5-0C4C-2E49-3A06-C65652576A64}"/>
              </a:ext>
            </a:extLst>
          </p:cNvPr>
          <p:cNvCxnSpPr>
            <a:cxnSpLocks/>
          </p:cNvCxnSpPr>
          <p:nvPr/>
        </p:nvCxnSpPr>
        <p:spPr>
          <a:xfrm>
            <a:off x="533400" y="533400"/>
            <a:ext cx="35037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2038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Συμπέρασμα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541942"/>
            <a:ext cx="11256264" cy="2225185"/>
          </a:xfrm>
        </p:spPr>
        <p:txBody>
          <a:bodyPr rtlCol="0"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8" name="Θέση περιεχομένου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3423301"/>
            <a:ext cx="11239499" cy="290129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Ευθεία γραμμή σύνδεσης 2">
            <a:extLst>
              <a:ext uri="{FF2B5EF4-FFF2-40B4-BE49-F238E27FC236}">
                <a16:creationId xmlns:a16="http://schemas.microsoft.com/office/drawing/2014/main" id="{BFD55B63-1406-DAD2-DBAB-BD87EA2FB540}"/>
              </a:ext>
            </a:extLst>
          </p:cNvPr>
          <p:cNvCxnSpPr>
            <a:cxnSpLocks/>
          </p:cNvCxnSpPr>
          <p:nvPr/>
        </p:nvCxnSpPr>
        <p:spPr>
          <a:xfrm>
            <a:off x="533400" y="297885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077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Συμπέρασμα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836238"/>
            <a:ext cx="11256264" cy="2512732"/>
          </a:xfrm>
        </p:spPr>
        <p:txBody>
          <a:bodyPr rtlCol="0"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8" name="Θέση περιεχομένου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4834052"/>
            <a:ext cx="11239499" cy="140547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2000" dirty="0"/>
            </a:lvl1pPr>
            <a:lvl2pPr marL="457200" indent="0">
              <a:buNone/>
              <a:defRPr lang="en-US" sz="1800" dirty="0"/>
            </a:lvl2pPr>
            <a:lvl3pPr marL="914400" indent="0">
              <a:buNone/>
              <a:defRPr lang="en-US" sz="1600" dirty="0"/>
            </a:lvl3pPr>
            <a:lvl4pPr marL="1371600" indent="0">
              <a:buNone/>
              <a:defRPr lang="en-US" sz="1400" dirty="0"/>
            </a:lvl4pPr>
            <a:lvl5pPr marL="1828800" indent="0">
              <a:buNone/>
              <a:defRPr lang="en-US" sz="1400" dirty="0"/>
            </a:lvl5pPr>
          </a:lstStyle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4/8/2025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Ευθεία γραμμή σύνδεσης 8">
            <a:extLst>
              <a:ext uri="{FF2B5EF4-FFF2-40B4-BE49-F238E27FC236}">
                <a16:creationId xmlns:a16="http://schemas.microsoft.com/office/drawing/2014/main" id="{05899B98-11E6-7DB0-F79E-50A541026355}"/>
              </a:ext>
            </a:extLst>
          </p:cNvPr>
          <p:cNvCxnSpPr>
            <a:cxnSpLocks/>
          </p:cNvCxnSpPr>
          <p:nvPr/>
        </p:nvCxnSpPr>
        <p:spPr>
          <a:xfrm>
            <a:off x="533400" y="4531625"/>
            <a:ext cx="1112519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7237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Ευθεία γραμμή σύνδεσης 8">
            <a:extLst>
              <a:ext uri="{FF2B5EF4-FFF2-40B4-BE49-F238E27FC236}">
                <a16:creationId xmlns:a16="http://schemas.microsoft.com/office/drawing/2014/main" id="{58916C8C-4316-E510-1962-E944B3382B43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83" y="691868"/>
            <a:ext cx="11243617" cy="9011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el"/>
              <a:t>Κάντε κλικ για να επεξεργαστείτε το Στυλ κύριου τίτλου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640" y="1754753"/>
            <a:ext cx="11240960" cy="4411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l"/>
              <a:t>Στυλ υποδείγματος κειμένου</a:t>
            </a:r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4857" y="6426091"/>
            <a:ext cx="46887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pPr rtl="0"/>
            <a:r>
              <a:rPr lang="el"/>
              <a:t>Δείγμα κειμένου υποσέλιδου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846205" y="6426091"/>
            <a:ext cx="33276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pPr rtl="0"/>
            <a:r>
              <a:rPr lang="en-US"/>
              <a:t>4/8/2025</a:t>
            </a:r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187" y="6426091"/>
            <a:ext cx="603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pPr rtl="0"/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828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4">
          <p15:clr>
            <a:srgbClr val="F26B43"/>
          </p15:clr>
        </p15:guide>
        <p15:guide id="2" pos="4128">
          <p15:clr>
            <a:srgbClr val="F26B43"/>
          </p15:clr>
        </p15:guide>
        <p15:guide id="3" pos="3456">
          <p15:clr>
            <a:srgbClr val="F26B43"/>
          </p15:clr>
        </p15:guide>
        <p15:guide id="4" pos="27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orient="horz" pos="336">
          <p15:clr>
            <a:srgbClr val="F26B43"/>
          </p15:clr>
        </p15:guide>
        <p15:guide id="8" pos="264">
          <p15:clr>
            <a:srgbClr val="F26B43"/>
          </p15:clr>
        </p15:guide>
        <p15:guide id="9" pos="4800">
          <p15:clr>
            <a:srgbClr val="F26B43"/>
          </p15:clr>
        </p15:guide>
        <p15:guide id="10" pos="2112">
          <p15:clr>
            <a:srgbClr val="F26B43"/>
          </p15:clr>
        </p15:guide>
        <p15:guide id="11" pos="54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95A66-1A79-0AED-8C5B-C1BD80169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2511" y="696374"/>
            <a:ext cx="7035704" cy="1011680"/>
          </a:xfrm>
        </p:spPr>
        <p:txBody>
          <a:bodyPr anchor="t">
            <a:noAutofit/>
          </a:bodyPr>
          <a:lstStyle/>
          <a:p>
            <a:pPr algn="ctr" fontAlgn="base"/>
            <a:r>
              <a:rPr lang="el-GR" sz="3200" b="1" dirty="0" err="1">
                <a:latin typeface="Bookman Old Style" panose="02050604050505020204" pitchFamily="18" charset="0"/>
              </a:rPr>
              <a:t>Healthcare</a:t>
            </a:r>
            <a:r>
              <a:rPr lang="el-GR" sz="3200" b="1" dirty="0">
                <a:latin typeface="Bookman Old Style" panose="02050604050505020204" pitchFamily="18" charset="0"/>
              </a:rPr>
              <a:t> </a:t>
            </a:r>
            <a:r>
              <a:rPr lang="el-GR" sz="3200" b="1" dirty="0" err="1">
                <a:latin typeface="Bookman Old Style" panose="02050604050505020204" pitchFamily="18" charset="0"/>
              </a:rPr>
              <a:t>Dataset</a:t>
            </a:r>
            <a:r>
              <a:rPr lang="en-US" sz="3200" b="1" dirty="0">
                <a:latin typeface="Bookman Old Style" panose="02050604050505020204" pitchFamily="18" charset="0"/>
              </a:rPr>
              <a:t>: Project_1</a:t>
            </a:r>
            <a:br>
              <a:rPr lang="el-GR" sz="3200" b="1" dirty="0">
                <a:latin typeface="Bookman Old Style" panose="02050604050505020204" pitchFamily="18" charset="0"/>
              </a:rPr>
            </a:br>
            <a:endParaRPr lang="en-US" sz="2800" dirty="0">
              <a:latin typeface="Bookman Old Style" panose="0205060405050502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C3E4C3-6732-8C0E-77D4-640707224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304" y="5682554"/>
            <a:ext cx="3655646" cy="999745"/>
          </a:xfrm>
        </p:spPr>
        <p:txBody>
          <a:bodyPr anchor="t"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sz="1700" dirty="0"/>
              <a:t>Presenters:</a:t>
            </a:r>
          </a:p>
          <a:p>
            <a:pPr marL="742950" lvl="1" indent="-285750">
              <a:lnSpc>
                <a:spcPct val="110000"/>
              </a:lnSpc>
              <a:buFont typeface="Wingdings" pitchFamily="2" charset="2"/>
              <a:buChar char="v"/>
            </a:pPr>
            <a:r>
              <a:rPr lang="en-US" sz="1900" dirty="0"/>
              <a:t>Preslav Petrov</a:t>
            </a:r>
          </a:p>
          <a:p>
            <a:pPr marL="742950" lvl="1" indent="-285750">
              <a:lnSpc>
                <a:spcPct val="110000"/>
              </a:lnSpc>
              <a:buFont typeface="Wingdings" pitchFamily="2" charset="2"/>
              <a:buChar char="v"/>
            </a:pPr>
            <a:r>
              <a:rPr lang="en-US" sz="1900" dirty="0"/>
              <a:t>Antonios Bourlis</a:t>
            </a:r>
          </a:p>
          <a:p>
            <a:pPr>
              <a:lnSpc>
                <a:spcPct val="110000"/>
              </a:lnSpc>
            </a:pPr>
            <a:endParaRPr lang="en-US" sz="1700" dirty="0"/>
          </a:p>
        </p:txBody>
      </p:sp>
      <p:pic>
        <p:nvPicPr>
          <p:cNvPr id="7" name="Εικόνα 6">
            <a:extLst>
              <a:ext uri="{FF2B5EF4-FFF2-40B4-BE49-F238E27FC236}">
                <a16:creationId xmlns:a16="http://schemas.microsoft.com/office/drawing/2014/main" id="{09AC6FFA-1641-D4C9-7187-B47D8A66A0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28" y="2305878"/>
            <a:ext cx="5715001" cy="1510747"/>
          </a:xfrm>
          <a:prstGeom prst="rect">
            <a:avLst/>
          </a:prstGeom>
        </p:spPr>
      </p:pic>
      <p:pic>
        <p:nvPicPr>
          <p:cNvPr id="9" name="Εικόνα 8">
            <a:extLst>
              <a:ext uri="{FF2B5EF4-FFF2-40B4-BE49-F238E27FC236}">
                <a16:creationId xmlns:a16="http://schemas.microsoft.com/office/drawing/2014/main" id="{1D9586FB-37E8-3E1F-EB8D-D11C28AF66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628" y="3025206"/>
            <a:ext cx="5028475" cy="220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703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CF860463-30DE-99DA-8D6C-6B2D2C3A6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FA4A61-FC64-B6D2-1386-98CBF995881E}"/>
              </a:ext>
            </a:extLst>
          </p:cNvPr>
          <p:cNvSpPr txBox="1"/>
          <p:nvPr/>
        </p:nvSpPr>
        <p:spPr>
          <a:xfrm>
            <a:off x="1746504" y="422509"/>
            <a:ext cx="72300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l-GR" sz="3600" b="1" i="0" u="none" strike="noStrike" dirty="0" err="1">
                <a:solidFill>
                  <a:srgbClr val="F8FAFC"/>
                </a:solidFill>
                <a:effectLst/>
                <a:latin typeface="Urbanist"/>
              </a:rPr>
              <a:t>Healthcare</a:t>
            </a:r>
            <a:r>
              <a:rPr lang="el-GR" sz="3600" b="1" i="0" u="none" strike="noStrike" dirty="0">
                <a:solidFill>
                  <a:srgbClr val="F8FAFC"/>
                </a:solidFill>
                <a:effectLst/>
                <a:latin typeface="Urbanist"/>
              </a:rPr>
              <a:t> </a:t>
            </a:r>
            <a:r>
              <a:rPr lang="el-GR" sz="3600" b="1" i="0" u="none" strike="noStrike" dirty="0" err="1">
                <a:solidFill>
                  <a:srgbClr val="F8FAFC"/>
                </a:solidFill>
                <a:effectLst/>
                <a:latin typeface="Urbanist"/>
              </a:rPr>
              <a:t>Dataset</a:t>
            </a:r>
            <a:r>
              <a:rPr lang="el-GR" sz="3600" b="1" i="0" u="none" strike="noStrike" dirty="0">
                <a:solidFill>
                  <a:srgbClr val="F8FAFC"/>
                </a:solidFill>
                <a:effectLst/>
                <a:latin typeface="Urbanist"/>
              </a:rPr>
              <a:t>:</a:t>
            </a:r>
            <a:br>
              <a:rPr lang="el-GR" sz="3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l-GR" sz="3600" b="1" i="0" u="none" strike="noStrike" dirty="0" err="1">
                <a:solidFill>
                  <a:srgbClr val="38BDF8"/>
                </a:solidFill>
                <a:effectLst/>
                <a:latin typeface="Urbanist"/>
              </a:rPr>
              <a:t>Exploration</a:t>
            </a:r>
            <a:r>
              <a:rPr lang="el-GR" sz="3600" b="1" i="0" u="none" strike="noStrike" dirty="0">
                <a:solidFill>
                  <a:srgbClr val="38BDF8"/>
                </a:solidFill>
                <a:effectLst/>
                <a:latin typeface="Urbanist"/>
              </a:rPr>
              <a:t> &amp; </a:t>
            </a:r>
            <a:r>
              <a:rPr lang="el-GR" sz="3600" b="1" i="0" u="none" strike="noStrike" dirty="0" err="1">
                <a:solidFill>
                  <a:srgbClr val="38BDF8"/>
                </a:solidFill>
                <a:effectLst/>
                <a:latin typeface="Urbanist"/>
              </a:rPr>
              <a:t>Validation</a:t>
            </a:r>
            <a:endParaRPr lang="el-GR" sz="3600" b="0" dirty="0">
              <a:effectLst/>
            </a:endParaRPr>
          </a:p>
          <a:p>
            <a:pPr>
              <a:buNone/>
            </a:pPr>
            <a:br>
              <a:rPr lang="el-GR" dirty="0"/>
            </a:br>
            <a:endParaRPr lang="el-G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B5F116-638A-1895-529A-43988C1E4965}"/>
              </a:ext>
            </a:extLst>
          </p:cNvPr>
          <p:cNvSpPr txBox="1"/>
          <p:nvPr/>
        </p:nvSpPr>
        <p:spPr>
          <a:xfrm>
            <a:off x="1426464" y="1836712"/>
            <a:ext cx="702347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l-GR" sz="1600" b="0" i="0" u="none" strike="noStrike" dirty="0" err="1">
                <a:solidFill>
                  <a:srgbClr val="94A3B8"/>
                </a:solidFill>
                <a:effectLst/>
                <a:latin typeface="Urbanist"/>
              </a:rPr>
              <a:t>An</a:t>
            </a:r>
            <a:r>
              <a:rPr lang="el-GR" sz="1600" b="0" i="0" u="none" strike="noStrike" dirty="0">
                <a:solidFill>
                  <a:srgbClr val="94A3B8"/>
                </a:solidFill>
                <a:effectLst/>
                <a:latin typeface="Urbanist"/>
              </a:rPr>
              <a:t> </a:t>
            </a:r>
            <a:r>
              <a:rPr lang="el-GR" sz="1600" b="0" i="0" u="none" strike="noStrike" dirty="0" err="1">
                <a:solidFill>
                  <a:srgbClr val="94A3B8"/>
                </a:solidFill>
                <a:effectLst/>
                <a:latin typeface="Urbanist"/>
              </a:rPr>
              <a:t>analysis</a:t>
            </a:r>
            <a:r>
              <a:rPr lang="el-GR" sz="1600" b="0" i="0" u="none" strike="noStrike" dirty="0">
                <a:solidFill>
                  <a:srgbClr val="94A3B8"/>
                </a:solidFill>
                <a:effectLst/>
                <a:latin typeface="Urbanist"/>
              </a:rPr>
              <a:t> of a 55,</a:t>
            </a:r>
            <a:r>
              <a:rPr lang="en-US" sz="1600" b="0" i="0" u="none" strike="noStrike" dirty="0">
                <a:solidFill>
                  <a:srgbClr val="94A3B8"/>
                </a:solidFill>
                <a:effectLst/>
                <a:latin typeface="Urbanist"/>
              </a:rPr>
              <a:t>392</a:t>
            </a:r>
            <a:r>
              <a:rPr lang="el-GR" sz="1600" b="0" i="0" u="none" strike="noStrike" dirty="0">
                <a:solidFill>
                  <a:srgbClr val="94A3B8"/>
                </a:solidFill>
                <a:effectLst/>
                <a:latin typeface="Urbanist"/>
              </a:rPr>
              <a:t> </a:t>
            </a:r>
            <a:r>
              <a:rPr lang="el-GR" sz="1600" b="0" i="0" u="none" strike="noStrike" dirty="0" err="1">
                <a:solidFill>
                  <a:srgbClr val="94A3B8"/>
                </a:solidFill>
                <a:effectLst/>
                <a:latin typeface="Urbanist"/>
              </a:rPr>
              <a:t>patient</a:t>
            </a:r>
            <a:r>
              <a:rPr lang="el-GR" sz="1600" b="0" i="0" u="none" strike="noStrike" dirty="0">
                <a:solidFill>
                  <a:srgbClr val="94A3B8"/>
                </a:solidFill>
                <a:effectLst/>
                <a:latin typeface="Urbanist"/>
              </a:rPr>
              <a:t> </a:t>
            </a:r>
            <a:r>
              <a:rPr lang="el-GR" sz="1600" b="0" i="0" u="none" strike="noStrike" dirty="0" err="1">
                <a:solidFill>
                  <a:srgbClr val="94A3B8"/>
                </a:solidFill>
                <a:effectLst/>
                <a:latin typeface="Urbanist"/>
              </a:rPr>
              <a:t>dataset</a:t>
            </a:r>
            <a:r>
              <a:rPr lang="el-GR" sz="1600" b="0" i="0" u="none" strike="noStrike" dirty="0">
                <a:solidFill>
                  <a:srgbClr val="94A3B8"/>
                </a:solidFill>
                <a:effectLst/>
                <a:latin typeface="Urbanist"/>
              </a:rPr>
              <a:t>, </a:t>
            </a:r>
            <a:r>
              <a:rPr lang="el-GR" sz="1600" b="0" i="0" u="none" strike="noStrike" dirty="0" err="1">
                <a:solidFill>
                  <a:srgbClr val="94A3B8"/>
                </a:solidFill>
                <a:effectLst/>
                <a:latin typeface="Urbanist"/>
              </a:rPr>
              <a:t>examining</a:t>
            </a:r>
            <a:r>
              <a:rPr lang="el-GR" sz="1600" b="0" i="0" u="none" strike="noStrike" dirty="0">
                <a:solidFill>
                  <a:srgbClr val="94A3B8"/>
                </a:solidFill>
                <a:effectLst/>
                <a:latin typeface="Urbanist"/>
              </a:rPr>
              <a:t> </a:t>
            </a:r>
            <a:r>
              <a:rPr lang="en-US" sz="1600" b="0" i="0" u="none" strike="noStrike" dirty="0">
                <a:solidFill>
                  <a:srgbClr val="94A3B8"/>
                </a:solidFill>
                <a:effectLst/>
                <a:latin typeface="Urbanist"/>
              </a:rPr>
              <a:t>: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94A3B8"/>
                </a:solidFill>
                <a:latin typeface="Urbanist"/>
              </a:rPr>
              <a:t>G</a:t>
            </a:r>
            <a:r>
              <a:rPr lang="en-US" sz="1600" b="0" i="0" u="none" strike="noStrike" dirty="0">
                <a:solidFill>
                  <a:srgbClr val="94A3B8"/>
                </a:solidFill>
                <a:effectLst/>
                <a:latin typeface="Urbanist"/>
              </a:rPr>
              <a:t>ender separation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94A3B8"/>
                </a:solidFill>
                <a:latin typeface="Urbanist"/>
              </a:rPr>
              <a:t>Distribution of staying length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94A3B8"/>
                </a:solidFill>
                <a:latin typeface="Urbanist"/>
              </a:rPr>
              <a:t>Distribution of billing amount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94A3B8"/>
                </a:solidFill>
                <a:latin typeface="Urbanist"/>
              </a:rPr>
              <a:t>Distribution by Age 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94A3B8"/>
                </a:solidFill>
                <a:latin typeface="Urbanist"/>
              </a:rPr>
              <a:t>Billing Amount by Medical Condition</a:t>
            </a:r>
            <a:endParaRPr lang="en-US" sz="1600" b="0" i="0" u="none" strike="noStrike" dirty="0">
              <a:solidFill>
                <a:srgbClr val="94A3B8"/>
              </a:solidFill>
              <a:effectLst/>
              <a:latin typeface="Urbanist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94A3B8"/>
                </a:solidFill>
                <a:latin typeface="Urbanist"/>
              </a:rPr>
              <a:t>M</a:t>
            </a:r>
            <a:r>
              <a:rPr lang="el-GR" sz="1600" b="0" i="0" u="none" strike="noStrike" dirty="0" err="1">
                <a:solidFill>
                  <a:srgbClr val="94A3B8"/>
                </a:solidFill>
                <a:effectLst/>
                <a:latin typeface="Urbanist"/>
              </a:rPr>
              <a:t>edical</a:t>
            </a:r>
            <a:r>
              <a:rPr lang="el-GR" sz="1600" b="0" i="0" u="none" strike="noStrike" dirty="0">
                <a:solidFill>
                  <a:srgbClr val="94A3B8"/>
                </a:solidFill>
                <a:effectLst/>
                <a:latin typeface="Urbanist"/>
              </a:rPr>
              <a:t> </a:t>
            </a:r>
            <a:r>
              <a:rPr lang="el-GR" sz="1600" b="0" i="0" u="none" strike="noStrike" dirty="0" err="1">
                <a:solidFill>
                  <a:srgbClr val="94A3B8"/>
                </a:solidFill>
                <a:effectLst/>
                <a:latin typeface="Urbanist"/>
              </a:rPr>
              <a:t>conditions</a:t>
            </a:r>
            <a:r>
              <a:rPr lang="el-GR" sz="1600" b="0" i="0" u="none" strike="noStrike" dirty="0">
                <a:solidFill>
                  <a:srgbClr val="94A3B8"/>
                </a:solidFill>
                <a:effectLst/>
                <a:latin typeface="Urbanist"/>
              </a:rPr>
              <a:t> </a:t>
            </a:r>
            <a:endParaRPr lang="en-US" sz="1600" b="0" i="0" u="none" strike="noStrike" dirty="0">
              <a:solidFill>
                <a:srgbClr val="94A3B8"/>
              </a:solidFill>
              <a:effectLst/>
              <a:latin typeface="Urbanist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94A3B8"/>
                </a:solidFill>
                <a:latin typeface="Urbanist"/>
              </a:rPr>
              <a:t>B</a:t>
            </a:r>
            <a:r>
              <a:rPr lang="el-GR" sz="1600" b="0" i="0" u="none" strike="noStrike" dirty="0" err="1">
                <a:solidFill>
                  <a:srgbClr val="94A3B8"/>
                </a:solidFill>
                <a:effectLst/>
                <a:latin typeface="Urbanist"/>
              </a:rPr>
              <a:t>lood</a:t>
            </a:r>
            <a:r>
              <a:rPr lang="el-GR" sz="1600" b="0" i="0" u="none" strike="noStrike" dirty="0">
                <a:solidFill>
                  <a:srgbClr val="94A3B8"/>
                </a:solidFill>
                <a:effectLst/>
                <a:latin typeface="Urbanist"/>
              </a:rPr>
              <a:t> </a:t>
            </a:r>
            <a:r>
              <a:rPr lang="el-GR" sz="1600" b="0" i="0" u="none" strike="noStrike" dirty="0" err="1">
                <a:solidFill>
                  <a:srgbClr val="94A3B8"/>
                </a:solidFill>
                <a:effectLst/>
                <a:latin typeface="Urbanist"/>
              </a:rPr>
              <a:t>types</a:t>
            </a:r>
            <a:endParaRPr lang="en-US" sz="1600" dirty="0">
              <a:solidFill>
                <a:srgbClr val="94A3B8"/>
              </a:solidFill>
              <a:latin typeface="Urbanist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94A3B8"/>
                </a:solidFill>
                <a:latin typeface="Urbanist"/>
              </a:rPr>
              <a:t>D</a:t>
            </a:r>
            <a:r>
              <a:rPr lang="el-GR" sz="1600" b="0" i="0" u="none" strike="noStrike" dirty="0" err="1">
                <a:solidFill>
                  <a:srgbClr val="94A3B8"/>
                </a:solidFill>
                <a:effectLst/>
                <a:latin typeface="Urbanist"/>
              </a:rPr>
              <a:t>ata</a:t>
            </a:r>
            <a:r>
              <a:rPr lang="el-GR" sz="1600" b="0" i="0" u="none" strike="noStrike" dirty="0">
                <a:solidFill>
                  <a:srgbClr val="94A3B8"/>
                </a:solidFill>
                <a:effectLst/>
                <a:latin typeface="Urbanist"/>
              </a:rPr>
              <a:t> </a:t>
            </a:r>
            <a:r>
              <a:rPr lang="el-GR" sz="1600" b="0" i="0" u="none" strike="noStrike" dirty="0" err="1">
                <a:solidFill>
                  <a:srgbClr val="94A3B8"/>
                </a:solidFill>
                <a:effectLst/>
                <a:latin typeface="Urbanist"/>
              </a:rPr>
              <a:t>integrity</a:t>
            </a:r>
            <a:endParaRPr lang="el-GR" sz="1600" b="0" dirty="0">
              <a:effectLst/>
            </a:endParaRPr>
          </a:p>
          <a:p>
            <a:pPr>
              <a:buNone/>
            </a:pPr>
            <a:br>
              <a:rPr lang="el-GR" dirty="0"/>
            </a:b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554008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A6F193AE-490F-AD41-F151-FF3AA1BA6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Τίτλος 1">
            <a:extLst>
              <a:ext uri="{FF2B5EF4-FFF2-40B4-BE49-F238E27FC236}">
                <a16:creationId xmlns:a16="http://schemas.microsoft.com/office/drawing/2014/main" id="{8E596D54-D814-285F-F37C-B3ACA1755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898" y="269963"/>
            <a:ext cx="11253667" cy="594971"/>
          </a:xfrm>
        </p:spPr>
        <p:txBody>
          <a:bodyPr>
            <a:noAutofit/>
          </a:bodyPr>
          <a:lstStyle/>
          <a:p>
            <a:pPr algn="ctr"/>
            <a:r>
              <a:rPr lang="en" sz="3600" b="1" dirty="0">
                <a:solidFill>
                  <a:srgbClr val="38BDF8"/>
                </a:solidFill>
                <a:latin typeface="Urbanist"/>
                <a:ea typeface="+mn-ea"/>
                <a:cs typeface="+mn-cs"/>
              </a:rPr>
              <a:t>separation into men and women</a:t>
            </a:r>
            <a:endParaRPr lang="el-GR" sz="3600" b="1" dirty="0">
              <a:solidFill>
                <a:srgbClr val="38BDF8"/>
              </a:solidFill>
              <a:latin typeface="Urbanist"/>
              <a:ea typeface="+mn-ea"/>
              <a:cs typeface="+mn-cs"/>
            </a:endParaRPr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5482BEB7-18AD-FB96-190B-32C11F8AF7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27" y="2910051"/>
            <a:ext cx="5155671" cy="3736996"/>
          </a:xfrm>
          <a:prstGeom prst="rect">
            <a:avLst/>
          </a:prstGeom>
        </p:spPr>
      </p:pic>
      <p:sp>
        <p:nvSpPr>
          <p:cNvPr id="6" name="Λυγισμένο βέλος 22">
            <a:extLst>
              <a:ext uri="{FF2B5EF4-FFF2-40B4-BE49-F238E27FC236}">
                <a16:creationId xmlns:a16="http://schemas.microsoft.com/office/drawing/2014/main" id="{4F050047-F72F-367E-88A5-127A74D02A33}"/>
              </a:ext>
            </a:extLst>
          </p:cNvPr>
          <p:cNvSpPr/>
          <p:nvPr/>
        </p:nvSpPr>
        <p:spPr>
          <a:xfrm>
            <a:off x="2768958" y="1880315"/>
            <a:ext cx="3949133" cy="1029736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>
              <a:solidFill>
                <a:schemeClr val="tx1"/>
              </a:solidFill>
            </a:endParaRPr>
          </a:p>
        </p:txBody>
      </p:sp>
      <p:pic>
        <p:nvPicPr>
          <p:cNvPr id="7" name="Θέση περιεχομένου 4">
            <a:extLst>
              <a:ext uri="{FF2B5EF4-FFF2-40B4-BE49-F238E27FC236}">
                <a16:creationId xmlns:a16="http://schemas.microsoft.com/office/drawing/2014/main" id="{7BD01834-3381-8401-729F-479A3D7B00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749" y="1428865"/>
            <a:ext cx="4538663" cy="2000135"/>
          </a:xfrm>
          <a:prstGeom prst="rect">
            <a:avLst/>
          </a:prstGeom>
        </p:spPr>
      </p:pic>
      <p:pic>
        <p:nvPicPr>
          <p:cNvPr id="8" name="Εικόνα 7">
            <a:extLst>
              <a:ext uri="{FF2B5EF4-FFF2-40B4-BE49-F238E27FC236}">
                <a16:creationId xmlns:a16="http://schemas.microsoft.com/office/drawing/2014/main" id="{59C0BEBE-FC2E-F308-DF30-B0784086715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0367" y="3773412"/>
            <a:ext cx="3614885" cy="2409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530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457E5CC-89B9-32DC-82EA-E00DAB1DEA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Θέση περιεχομένου 5">
            <a:extLst>
              <a:ext uri="{FF2B5EF4-FFF2-40B4-BE49-F238E27FC236}">
                <a16:creationId xmlns:a16="http://schemas.microsoft.com/office/drawing/2014/main" id="{738A8620-A8B1-04E6-2C6F-BF31F08328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58" y="1555133"/>
            <a:ext cx="8193314" cy="5213926"/>
          </a:xfrm>
          <a:prstGeom prst="rect">
            <a:avLst/>
          </a:prstGeom>
        </p:spPr>
      </p:pic>
      <p:sp>
        <p:nvSpPr>
          <p:cNvPr id="6" name="Τίτλος 1">
            <a:extLst>
              <a:ext uri="{FF2B5EF4-FFF2-40B4-BE49-F238E27FC236}">
                <a16:creationId xmlns:a16="http://schemas.microsoft.com/office/drawing/2014/main" id="{2C41836A-F512-5EA9-7F9E-1CB69423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58" y="317541"/>
            <a:ext cx="10270671" cy="777946"/>
          </a:xfrm>
        </p:spPr>
        <p:txBody>
          <a:bodyPr/>
          <a:lstStyle/>
          <a:p>
            <a:r>
              <a:rPr lang="en-US" dirty="0">
                <a:solidFill>
                  <a:srgbClr val="94A3B8"/>
                </a:solidFill>
                <a:latin typeface="Urbanist"/>
              </a:rPr>
              <a:t>Distribution of staying length</a:t>
            </a:r>
            <a:endParaRPr lang="el-G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928EE8-DDEF-6D94-9A3D-EAE93F143FDE}"/>
              </a:ext>
            </a:extLst>
          </p:cNvPr>
          <p:cNvSpPr txBox="1"/>
          <p:nvPr/>
        </p:nvSpPr>
        <p:spPr>
          <a:xfrm>
            <a:off x="8418430" y="1536174"/>
            <a:ext cx="3492501" cy="37856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According to the graph the data are distributed uniformly.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Maximum length of stay is 30 days.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Minimum length of stay is 1 day (the patient had a simple service). </a:t>
            </a:r>
            <a:endParaRPr lang="el-GR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263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255AF776-8768-494E-8750-37C68C92E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7A89527-B380-5C50-5BFA-9CCBA354FC4D}"/>
              </a:ext>
            </a:extLst>
          </p:cNvPr>
          <p:cNvSpPr txBox="1"/>
          <p:nvPr/>
        </p:nvSpPr>
        <p:spPr>
          <a:xfrm>
            <a:off x="112118" y="380807"/>
            <a:ext cx="6167004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200" cap="all" dirty="0">
                <a:solidFill>
                  <a:srgbClr val="94A3B8"/>
                </a:solidFill>
                <a:latin typeface="Urbanist"/>
                <a:ea typeface="+mj-ea"/>
                <a:cs typeface="+mj-cs"/>
              </a:rPr>
              <a:t>Distribution of billing amount</a:t>
            </a:r>
            <a:endParaRPr lang="el-GR" sz="3200" cap="all" dirty="0">
              <a:solidFill>
                <a:srgbClr val="94A3B8"/>
              </a:solidFill>
              <a:latin typeface="Urbanist"/>
              <a:ea typeface="+mj-ea"/>
              <a:cs typeface="+mj-cs"/>
            </a:endParaRPr>
          </a:p>
        </p:txBody>
      </p:sp>
      <p:pic>
        <p:nvPicPr>
          <p:cNvPr id="11" name="Εικόνα 10">
            <a:extLst>
              <a:ext uri="{FF2B5EF4-FFF2-40B4-BE49-F238E27FC236}">
                <a16:creationId xmlns:a16="http://schemas.microsoft.com/office/drawing/2014/main" id="{F32CEB9E-7EF8-7002-267B-3117BBFB52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846" y="1485074"/>
            <a:ext cx="8248506" cy="52490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9E57CC4-D740-71B9-DE5A-B675BF67B7DD}"/>
              </a:ext>
            </a:extLst>
          </p:cNvPr>
          <p:cNvSpPr txBox="1"/>
          <p:nvPr/>
        </p:nvSpPr>
        <p:spPr>
          <a:xfrm>
            <a:off x="8812857" y="1485074"/>
            <a:ext cx="27729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ookman Old Style" panose="02050604050505020204" pitchFamily="18" charset="0"/>
              </a:rPr>
              <a:t>Max billing amount 52.765 dollar.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ookman Old Style" panose="02050604050505020204" pitchFamily="18" charset="0"/>
              </a:rPr>
              <a:t>Minimum billing amount 9.20 dollars (&lt; 1 days staying).</a:t>
            </a:r>
            <a:endParaRPr lang="en-US" dirty="0">
              <a:latin typeface="Bookman Old Style" panose="02050604050505020204" pitchFamily="18" charset="0"/>
            </a:endParaRPr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218007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6511A38B-2178-F137-AE6F-30A8692B55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Τίτλος 1">
            <a:extLst>
              <a:ext uri="{FF2B5EF4-FFF2-40B4-BE49-F238E27FC236}">
                <a16:creationId xmlns:a16="http://schemas.microsoft.com/office/drawing/2014/main" id="{DB38517F-5461-65CD-9C4D-AC56DA4C8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375" y="204292"/>
            <a:ext cx="11253667" cy="909921"/>
          </a:xfrm>
        </p:spPr>
        <p:txBody>
          <a:bodyPr/>
          <a:lstStyle/>
          <a:p>
            <a:r>
              <a:rPr lang="en" sz="3600" b="1" dirty="0">
                <a:solidFill>
                  <a:srgbClr val="38BDF8"/>
                </a:solidFill>
                <a:latin typeface="Urbanist"/>
                <a:ea typeface="+mn-ea"/>
                <a:cs typeface="+mn-cs"/>
              </a:rPr>
              <a:t>Top 20 customers by length of stay</a:t>
            </a:r>
            <a:endParaRPr lang="el-GR" sz="3600" b="1" dirty="0">
              <a:solidFill>
                <a:srgbClr val="38BDF8"/>
              </a:solidFill>
              <a:latin typeface="Urbanist"/>
              <a:ea typeface="+mn-ea"/>
              <a:cs typeface="+mn-cs"/>
            </a:endParaRPr>
          </a:p>
        </p:txBody>
      </p:sp>
      <p:pic>
        <p:nvPicPr>
          <p:cNvPr id="6" name="Θέση περιεχομένου 12">
            <a:extLst>
              <a:ext uri="{FF2B5EF4-FFF2-40B4-BE49-F238E27FC236}">
                <a16:creationId xmlns:a16="http://schemas.microsoft.com/office/drawing/2014/main" id="{07502EC3-157C-A7B8-DF13-8B4BB4E3EA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75" y="1251369"/>
            <a:ext cx="3980418" cy="477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127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34B9ACCD-E79F-4893-8046-C35DE2973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Τίτλος 1">
            <a:extLst>
              <a:ext uri="{FF2B5EF4-FFF2-40B4-BE49-F238E27FC236}">
                <a16:creationId xmlns:a16="http://schemas.microsoft.com/office/drawing/2014/main" id="{9AEEBE01-5FDB-F1A4-D6BA-3751665D6FC2}"/>
              </a:ext>
            </a:extLst>
          </p:cNvPr>
          <p:cNvSpPr txBox="1">
            <a:spLocks/>
          </p:cNvSpPr>
          <p:nvPr/>
        </p:nvSpPr>
        <p:spPr>
          <a:xfrm>
            <a:off x="238775" y="488441"/>
            <a:ext cx="10563896" cy="7158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sz="3200" dirty="0">
                <a:solidFill>
                  <a:srgbClr val="94A3B8"/>
                </a:solidFill>
                <a:latin typeface="Urbanist"/>
              </a:rPr>
              <a:t>PATIENT DISTRIBUTION BY AGE CATEGORY</a:t>
            </a:r>
          </a:p>
        </p:txBody>
      </p:sp>
      <p:pic>
        <p:nvPicPr>
          <p:cNvPr id="9" name="Θέση περιεχομένου 6">
            <a:extLst>
              <a:ext uri="{FF2B5EF4-FFF2-40B4-BE49-F238E27FC236}">
                <a16:creationId xmlns:a16="http://schemas.microsoft.com/office/drawing/2014/main" id="{CEF5E253-D9BF-8B1E-ECA9-B3E63260B1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75" y="1392461"/>
            <a:ext cx="6632935" cy="51213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A4385A-4D99-7244-F2DE-FF73AB62C7D9}"/>
              </a:ext>
            </a:extLst>
          </p:cNvPr>
          <p:cNvSpPr txBox="1"/>
          <p:nvPr/>
        </p:nvSpPr>
        <p:spPr>
          <a:xfrm>
            <a:off x="7110485" y="1288045"/>
            <a:ext cx="37555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Bookman Old Style" panose="02050604050505020204" pitchFamily="18" charset="0"/>
              </a:rPr>
              <a:t>Boomers and Gen X have the first class of patients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Bookman Old Style" panose="02050604050505020204" pitchFamily="18" charset="0"/>
              </a:rPr>
              <a:t>Gen Alpha no contact with hospitals</a:t>
            </a:r>
          </a:p>
        </p:txBody>
      </p:sp>
    </p:spTree>
    <p:extLst>
      <p:ext uri="{BB962C8B-B14F-4D97-AF65-F5344CB8AC3E}">
        <p14:creationId xmlns:p14="http://schemas.microsoft.com/office/powerpoint/2010/main" val="593153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0BFE9C33-EEB7-1178-DF43-140B69B9A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Τίτλος 1">
            <a:extLst>
              <a:ext uri="{FF2B5EF4-FFF2-40B4-BE49-F238E27FC236}">
                <a16:creationId xmlns:a16="http://schemas.microsoft.com/office/drawing/2014/main" id="{438B9E2F-5B61-D08E-3363-87435CB1E525}"/>
              </a:ext>
            </a:extLst>
          </p:cNvPr>
          <p:cNvSpPr txBox="1">
            <a:spLocks/>
          </p:cNvSpPr>
          <p:nvPr/>
        </p:nvSpPr>
        <p:spPr>
          <a:xfrm>
            <a:off x="238775" y="488441"/>
            <a:ext cx="10563896" cy="7158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sz="3200" dirty="0">
                <a:solidFill>
                  <a:srgbClr val="94A3B8"/>
                </a:solidFill>
                <a:latin typeface="Urbanist"/>
              </a:rPr>
              <a:t>PATIENT DISTRIBUTION BY AGE CATEGORY</a:t>
            </a:r>
          </a:p>
        </p:txBody>
      </p:sp>
      <p:pic>
        <p:nvPicPr>
          <p:cNvPr id="9" name="Θέση περιεχομένου 5">
            <a:extLst>
              <a:ext uri="{FF2B5EF4-FFF2-40B4-BE49-F238E27FC236}">
                <a16:creationId xmlns:a16="http://schemas.microsoft.com/office/drawing/2014/main" id="{D1668613-E94E-3555-92B1-F554489740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75" y="1437388"/>
            <a:ext cx="6387922" cy="49321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A82D4C9-B6CE-D16B-7992-5C9D834DC395}"/>
              </a:ext>
            </a:extLst>
          </p:cNvPr>
          <p:cNvSpPr txBox="1"/>
          <p:nvPr/>
        </p:nvSpPr>
        <p:spPr>
          <a:xfrm>
            <a:off x="6865472" y="1437388"/>
            <a:ext cx="4278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b="1" dirty="0">
                <a:solidFill>
                  <a:schemeClr val="bg1"/>
                </a:solidFill>
              </a:rPr>
              <a:t>All medical conditions have slight differences in payments.</a:t>
            </a:r>
            <a:endParaRPr lang="el-G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2753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0F62A-5A8E-1214-5A6E-5455AB9B9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5B79F6D0-ED4E-899F-AA15-C92022F41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Τίτλος 1">
            <a:extLst>
              <a:ext uri="{FF2B5EF4-FFF2-40B4-BE49-F238E27FC236}">
                <a16:creationId xmlns:a16="http://schemas.microsoft.com/office/drawing/2014/main" id="{02A706C0-5568-8453-FAA8-360FD2BDF812}"/>
              </a:ext>
            </a:extLst>
          </p:cNvPr>
          <p:cNvSpPr txBox="1">
            <a:spLocks/>
          </p:cNvSpPr>
          <p:nvPr/>
        </p:nvSpPr>
        <p:spPr>
          <a:xfrm>
            <a:off x="238775" y="488441"/>
            <a:ext cx="10563896" cy="7158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sz="3200" dirty="0">
                <a:solidFill>
                  <a:srgbClr val="94A3B8"/>
                </a:solidFill>
                <a:latin typeface="Urbanist"/>
              </a:rPr>
              <a:t>MOST COMMON MEDICAL CONDITIONS</a:t>
            </a:r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D66DD1D7-906A-775F-DD29-4C75EDC3E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75" y="1410081"/>
            <a:ext cx="6000750" cy="4476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DD0847-7D42-27A8-3301-5852A3DB0A3F}"/>
              </a:ext>
            </a:extLst>
          </p:cNvPr>
          <p:cNvSpPr txBox="1"/>
          <p:nvPr/>
        </p:nvSpPr>
        <p:spPr>
          <a:xfrm>
            <a:off x="6446520" y="1410081"/>
            <a:ext cx="52760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Arthritis is technically the most common (9.297 cases).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However, the distribution across all six conditions is remarkably even, with each accounting for roughly 16% of the dataset.</a:t>
            </a:r>
          </a:p>
          <a:p>
            <a:endParaRPr lang="el-G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349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8AF6D-9BE3-B706-5875-5C3F8F304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28E8AF45-5D65-6A2E-84E5-342DB9566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Τίτλος 1">
            <a:extLst>
              <a:ext uri="{FF2B5EF4-FFF2-40B4-BE49-F238E27FC236}">
                <a16:creationId xmlns:a16="http://schemas.microsoft.com/office/drawing/2014/main" id="{706DE3FD-0B69-B5F5-1A2B-EA03BE36FD25}"/>
              </a:ext>
            </a:extLst>
          </p:cNvPr>
          <p:cNvSpPr txBox="1">
            <a:spLocks/>
          </p:cNvSpPr>
          <p:nvPr/>
        </p:nvSpPr>
        <p:spPr>
          <a:xfrm>
            <a:off x="238775" y="488441"/>
            <a:ext cx="10563896" cy="7158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sz="3200" dirty="0">
                <a:solidFill>
                  <a:srgbClr val="94A3B8"/>
                </a:solidFill>
                <a:latin typeface="Urbanist"/>
              </a:rPr>
              <a:t>MOST COMMON BLOOD TYPES</a:t>
            </a:r>
          </a:p>
        </p:txBody>
      </p:sp>
      <p:pic>
        <p:nvPicPr>
          <p:cNvPr id="10" name="Εικόνα 9">
            <a:extLst>
              <a:ext uri="{FF2B5EF4-FFF2-40B4-BE49-F238E27FC236}">
                <a16:creationId xmlns:a16="http://schemas.microsoft.com/office/drawing/2014/main" id="{3819CB49-E3AA-8337-C97D-F9F26AED4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75" y="1355217"/>
            <a:ext cx="6000750" cy="44767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EEC941D-0889-F66A-5E81-8DE291E41955}"/>
              </a:ext>
            </a:extLst>
          </p:cNvPr>
          <p:cNvSpPr txBox="1"/>
          <p:nvPr/>
        </p:nvSpPr>
        <p:spPr>
          <a:xfrm>
            <a:off x="6547104" y="1355217"/>
            <a:ext cx="51663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Blood type A- is the most frequent.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Like medical conditions, every blood type (including rare ones like AB-) constitutes approximately 12.5% of the patient population.</a:t>
            </a:r>
          </a:p>
          <a:p>
            <a:endParaRPr lang="el-G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6190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20834C3F-1F7B-C093-10A0-3D36AC2B5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Τίτλος 1">
            <a:extLst>
              <a:ext uri="{FF2B5EF4-FFF2-40B4-BE49-F238E27FC236}">
                <a16:creationId xmlns:a16="http://schemas.microsoft.com/office/drawing/2014/main" id="{C351740E-8DF4-BCE9-6E72-58FB724B9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898" y="231581"/>
            <a:ext cx="7238054" cy="594971"/>
          </a:xfrm>
        </p:spPr>
        <p:txBody>
          <a:bodyPr>
            <a:noAutofit/>
          </a:bodyPr>
          <a:lstStyle/>
          <a:p>
            <a:r>
              <a:rPr lang="en" sz="3600" b="1" dirty="0">
                <a:solidFill>
                  <a:srgbClr val="38BDF8"/>
                </a:solidFill>
                <a:latin typeface="Urbanist"/>
                <a:ea typeface="+mn-ea"/>
                <a:cs typeface="+mn-cs"/>
              </a:rPr>
              <a:t>DATA INTEGRITY-CONCLUSION</a:t>
            </a:r>
            <a:endParaRPr lang="el-GR" sz="3600" b="1" dirty="0">
              <a:solidFill>
                <a:srgbClr val="38BDF8"/>
              </a:solidFill>
              <a:latin typeface="Urbanis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57B162-9D43-4EC0-C80F-E92E5C709E41}"/>
              </a:ext>
            </a:extLst>
          </p:cNvPr>
          <p:cNvSpPr txBox="1"/>
          <p:nvPr/>
        </p:nvSpPr>
        <p:spPr>
          <a:xfrm>
            <a:off x="378898" y="1195292"/>
            <a:ext cx="615848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l-GR" sz="1800" b="1" i="0" u="none" strike="noStrike" dirty="0" err="1">
                <a:solidFill>
                  <a:srgbClr val="F8FAFC"/>
                </a:solidFill>
                <a:effectLst/>
                <a:latin typeface="Urbanist"/>
              </a:rPr>
              <a:t>This</a:t>
            </a:r>
            <a:r>
              <a:rPr lang="el-GR" sz="1800" b="1" i="0" u="none" strike="noStrike" dirty="0">
                <a:solidFill>
                  <a:srgbClr val="F8FAFC"/>
                </a:solidFill>
                <a:effectLst/>
                <a:latin typeface="Urbanist"/>
              </a:rPr>
              <a:t> </a:t>
            </a:r>
            <a:r>
              <a:rPr lang="el-GR" sz="1800" b="1" i="0" u="none" strike="noStrike" dirty="0" err="1">
                <a:solidFill>
                  <a:srgbClr val="F8FAFC"/>
                </a:solidFill>
                <a:effectLst/>
                <a:latin typeface="Urbanist"/>
              </a:rPr>
              <a:t>is</a:t>
            </a:r>
            <a:r>
              <a:rPr lang="el-GR" sz="1800" b="1" i="0" u="none" strike="noStrike" dirty="0">
                <a:solidFill>
                  <a:srgbClr val="F8FAFC"/>
                </a:solidFill>
                <a:effectLst/>
                <a:latin typeface="Urbanist"/>
              </a:rPr>
              <a:t> a </a:t>
            </a:r>
            <a:r>
              <a:rPr lang="el-GR" sz="1800" b="1" i="0" u="none" strike="noStrike" dirty="0" err="1">
                <a:solidFill>
                  <a:srgbClr val="F8FAFC"/>
                </a:solidFill>
                <a:effectLst/>
                <a:latin typeface="Urbanist"/>
              </a:rPr>
              <a:t>synthetic</a:t>
            </a:r>
            <a:r>
              <a:rPr lang="el-GR" sz="1800" b="1" i="0" u="none" strike="noStrike" dirty="0">
                <a:solidFill>
                  <a:srgbClr val="F8FAFC"/>
                </a:solidFill>
                <a:effectLst/>
                <a:latin typeface="Urbanist"/>
              </a:rPr>
              <a:t> </a:t>
            </a:r>
            <a:r>
              <a:rPr lang="el-GR" sz="1800" b="1" i="0" u="none" strike="noStrike" dirty="0" err="1">
                <a:solidFill>
                  <a:srgbClr val="F8FAFC"/>
                </a:solidFill>
                <a:effectLst/>
                <a:latin typeface="Urbanist"/>
              </a:rPr>
              <a:t>dataset</a:t>
            </a:r>
            <a:r>
              <a:rPr lang="el-GR" sz="1800" b="1" i="0" u="none" strike="noStrike" dirty="0">
                <a:solidFill>
                  <a:srgbClr val="F8FAFC"/>
                </a:solidFill>
                <a:effectLst/>
                <a:latin typeface="Urbanist"/>
              </a:rPr>
              <a:t>:</a:t>
            </a:r>
            <a:r>
              <a:rPr lang="el-GR" sz="1800" b="0" i="0" u="none" strike="noStrike" dirty="0">
                <a:solidFill>
                  <a:srgbClr val="CBD5E1"/>
                </a:solidFill>
                <a:effectLst/>
                <a:latin typeface="Urbanist"/>
              </a:rPr>
              <a:t> </a:t>
            </a:r>
            <a:r>
              <a:rPr lang="el-GR" sz="1800" b="0" i="0" u="none" strike="noStrike" dirty="0" err="1">
                <a:solidFill>
                  <a:srgbClr val="CBD5E1"/>
                </a:solidFill>
                <a:effectLst/>
                <a:latin typeface="Urbanist"/>
              </a:rPr>
              <a:t>Generated</a:t>
            </a:r>
            <a:r>
              <a:rPr lang="el-GR" sz="1800" b="0" i="0" u="none" strike="noStrike" dirty="0">
                <a:solidFill>
                  <a:srgbClr val="CBD5E1"/>
                </a:solidFill>
                <a:effectLst/>
                <a:latin typeface="Urbanist"/>
              </a:rPr>
              <a:t> </a:t>
            </a:r>
            <a:r>
              <a:rPr lang="el-GR" sz="1800" b="0" i="0" u="none" strike="noStrike" dirty="0" err="1">
                <a:solidFill>
                  <a:srgbClr val="CBD5E1"/>
                </a:solidFill>
                <a:effectLst/>
                <a:latin typeface="Urbanist"/>
              </a:rPr>
              <a:t>using</a:t>
            </a:r>
            <a:r>
              <a:rPr lang="el-GR" sz="1800" b="0" i="0" u="none" strike="noStrike" dirty="0">
                <a:solidFill>
                  <a:srgbClr val="CBD5E1"/>
                </a:solidFill>
                <a:effectLst/>
                <a:latin typeface="Urbanist"/>
              </a:rPr>
              <a:t> </a:t>
            </a:r>
            <a:r>
              <a:rPr lang="el-GR" sz="1800" b="0" i="0" u="none" strike="noStrike" dirty="0" err="1">
                <a:solidFill>
                  <a:srgbClr val="CBD5E1"/>
                </a:solidFill>
                <a:effectLst/>
                <a:latin typeface="Urbanist"/>
              </a:rPr>
              <a:t>uniform</a:t>
            </a:r>
            <a:r>
              <a:rPr lang="el-GR" sz="1800" b="0" i="0" u="none" strike="noStrike" dirty="0">
                <a:solidFill>
                  <a:srgbClr val="CBD5E1"/>
                </a:solidFill>
                <a:effectLst/>
                <a:latin typeface="Urbanist"/>
              </a:rPr>
              <a:t> </a:t>
            </a:r>
            <a:r>
              <a:rPr lang="el-GR" sz="1800" b="0" i="0" u="none" strike="noStrike" dirty="0" err="1">
                <a:solidFill>
                  <a:srgbClr val="CBD5E1"/>
                </a:solidFill>
                <a:effectLst/>
                <a:latin typeface="Urbanist"/>
              </a:rPr>
              <a:t>distributions</a:t>
            </a:r>
            <a:r>
              <a:rPr lang="el-GR" sz="1800" b="0" i="0" u="none" strike="noStrike" dirty="0">
                <a:solidFill>
                  <a:srgbClr val="CBD5E1"/>
                </a:solidFill>
                <a:effectLst/>
                <a:latin typeface="Urbanist"/>
              </a:rPr>
              <a:t> (</a:t>
            </a:r>
            <a:r>
              <a:rPr lang="el-GR" sz="1800" b="0" i="0" u="none" strike="noStrike" dirty="0" err="1">
                <a:solidFill>
                  <a:srgbClr val="CBD5E1"/>
                </a:solidFill>
                <a:effectLst/>
                <a:latin typeface="Urbanist"/>
              </a:rPr>
              <a:t>likely</a:t>
            </a:r>
            <a:r>
              <a:rPr lang="el-GR" sz="1800" b="0" i="0" u="none" strike="noStrike" dirty="0">
                <a:solidFill>
                  <a:srgbClr val="CBD5E1"/>
                </a:solidFill>
                <a:effectLst/>
                <a:latin typeface="Urbanist"/>
              </a:rPr>
              <a:t> </a:t>
            </a:r>
            <a:r>
              <a:rPr lang="el-GR" sz="1800" b="0" i="0" u="none" strike="noStrike" dirty="0" err="1">
                <a:solidFill>
                  <a:srgbClr val="CBD5E1"/>
                </a:solidFill>
                <a:effectLst/>
                <a:latin typeface="Urbanist"/>
              </a:rPr>
              <a:t>via</a:t>
            </a:r>
            <a:r>
              <a:rPr lang="el-GR" sz="1800" b="0" i="0" u="none" strike="noStrike" dirty="0">
                <a:solidFill>
                  <a:srgbClr val="CBD5E1"/>
                </a:solidFill>
                <a:effectLst/>
                <a:latin typeface="Urbanist"/>
              </a:rPr>
              <a:t> </a:t>
            </a:r>
            <a:r>
              <a:rPr lang="el-GR" sz="1800" b="0" i="0" u="none" strike="noStrike" dirty="0" err="1">
                <a:solidFill>
                  <a:srgbClr val="CBD5E1"/>
                </a:solidFill>
                <a:effectLst/>
                <a:latin typeface="Urbanist"/>
              </a:rPr>
              <a:t>Python's</a:t>
            </a:r>
            <a:r>
              <a:rPr lang="el-GR" sz="1800" b="0" i="0" u="none" strike="noStrike" dirty="0">
                <a:solidFill>
                  <a:srgbClr val="CBD5E1"/>
                </a:solidFill>
                <a:effectLst/>
                <a:latin typeface="Urbanist"/>
              </a:rPr>
              <a:t> </a:t>
            </a:r>
            <a:r>
              <a:rPr lang="el-GR" sz="1800" b="0" i="0" u="none" strike="noStrike" dirty="0" err="1">
                <a:solidFill>
                  <a:srgbClr val="CBD5E1"/>
                </a:solidFill>
                <a:effectLst/>
                <a:latin typeface="Urbanist"/>
              </a:rPr>
              <a:t>Faker</a:t>
            </a:r>
            <a:r>
              <a:rPr lang="el-GR" sz="1800" b="0" i="0" u="none" strike="noStrike" dirty="0">
                <a:solidFill>
                  <a:srgbClr val="CBD5E1"/>
                </a:solidFill>
                <a:effectLst/>
                <a:latin typeface="Urbanist"/>
              </a:rPr>
              <a:t> </a:t>
            </a:r>
            <a:r>
              <a:rPr lang="el-GR" sz="1800" b="0" i="0" u="none" strike="noStrike" dirty="0" err="1">
                <a:solidFill>
                  <a:srgbClr val="CBD5E1"/>
                </a:solidFill>
                <a:effectLst/>
                <a:latin typeface="Urbanist"/>
              </a:rPr>
              <a:t>library</a:t>
            </a:r>
            <a:r>
              <a:rPr lang="el-GR" sz="1800" b="0" i="0" u="none" strike="noStrike" dirty="0">
                <a:solidFill>
                  <a:srgbClr val="CBD5E1"/>
                </a:solidFill>
                <a:effectLst/>
                <a:latin typeface="Urbanist"/>
              </a:rPr>
              <a:t>), </a:t>
            </a:r>
            <a:r>
              <a:rPr lang="el-GR" sz="1800" b="0" i="0" u="none" strike="noStrike" dirty="0" err="1">
                <a:solidFill>
                  <a:srgbClr val="CBD5E1"/>
                </a:solidFill>
                <a:effectLst/>
                <a:latin typeface="Urbanist"/>
              </a:rPr>
              <a:t>this</a:t>
            </a:r>
            <a:r>
              <a:rPr lang="el-GR" sz="1800" b="0" i="0" u="none" strike="noStrike" dirty="0">
                <a:solidFill>
                  <a:srgbClr val="CBD5E1"/>
                </a:solidFill>
                <a:effectLst/>
                <a:latin typeface="Urbanist"/>
              </a:rPr>
              <a:t> </a:t>
            </a:r>
            <a:r>
              <a:rPr lang="el-GR" sz="1800" b="0" i="0" u="none" strike="noStrike" dirty="0" err="1">
                <a:solidFill>
                  <a:srgbClr val="CBD5E1"/>
                </a:solidFill>
                <a:effectLst/>
                <a:latin typeface="Urbanist"/>
              </a:rPr>
              <a:t>data</a:t>
            </a:r>
            <a:r>
              <a:rPr lang="el-GR" sz="1800" b="0" i="0" u="none" strike="noStrike" dirty="0">
                <a:solidFill>
                  <a:srgbClr val="CBD5E1"/>
                </a:solidFill>
                <a:effectLst/>
                <a:latin typeface="Urbanist"/>
              </a:rPr>
              <a:t> </a:t>
            </a:r>
            <a:r>
              <a:rPr lang="el-GR" sz="1800" b="0" i="0" u="none" strike="noStrike" dirty="0" err="1">
                <a:solidFill>
                  <a:srgbClr val="CBD5E1"/>
                </a:solidFill>
                <a:effectLst/>
                <a:latin typeface="Urbanist"/>
              </a:rPr>
              <a:t>was</a:t>
            </a:r>
            <a:r>
              <a:rPr lang="el-GR" sz="1800" b="0" i="0" u="none" strike="noStrike" dirty="0">
                <a:solidFill>
                  <a:srgbClr val="CBD5E1"/>
                </a:solidFill>
                <a:effectLst/>
                <a:latin typeface="Urbanist"/>
              </a:rPr>
              <a:t> </a:t>
            </a:r>
            <a:r>
              <a:rPr lang="el-GR" sz="1800" b="0" i="0" u="none" strike="noStrike" dirty="0" err="1">
                <a:solidFill>
                  <a:srgbClr val="CBD5E1"/>
                </a:solidFill>
                <a:effectLst/>
                <a:latin typeface="Urbanist"/>
              </a:rPr>
              <a:t>created</a:t>
            </a:r>
            <a:r>
              <a:rPr lang="el-GR" sz="1800" b="0" i="0" u="none" strike="noStrike" dirty="0">
                <a:solidFill>
                  <a:srgbClr val="CBD5E1"/>
                </a:solidFill>
                <a:effectLst/>
                <a:latin typeface="Urbanist"/>
              </a:rPr>
              <a:t> for </a:t>
            </a:r>
            <a:r>
              <a:rPr lang="el-GR" sz="1800" b="0" i="0" u="none" strike="noStrike" dirty="0" err="1">
                <a:solidFill>
                  <a:srgbClr val="CBD5E1"/>
                </a:solidFill>
                <a:effectLst/>
                <a:latin typeface="Urbanist"/>
              </a:rPr>
              <a:t>practice</a:t>
            </a:r>
            <a:r>
              <a:rPr lang="el-GR" sz="1800" b="0" i="0" u="none" strike="noStrike" dirty="0">
                <a:solidFill>
                  <a:srgbClr val="CBD5E1"/>
                </a:solidFill>
                <a:effectLst/>
                <a:latin typeface="Urbanist"/>
              </a:rPr>
              <a:t>, </a:t>
            </a:r>
            <a:r>
              <a:rPr lang="el-GR" sz="1800" b="0" i="0" u="none" strike="noStrike" dirty="0" err="1">
                <a:solidFill>
                  <a:srgbClr val="CBD5E1"/>
                </a:solidFill>
                <a:effectLst/>
                <a:latin typeface="Urbanist"/>
              </a:rPr>
              <a:t>not</a:t>
            </a:r>
            <a:r>
              <a:rPr lang="el-GR" sz="1800" b="0" i="0" u="none" strike="noStrike" dirty="0">
                <a:solidFill>
                  <a:srgbClr val="CBD5E1"/>
                </a:solidFill>
                <a:effectLst/>
                <a:latin typeface="Urbanist"/>
              </a:rPr>
              <a:t> </a:t>
            </a:r>
            <a:r>
              <a:rPr lang="el-GR" sz="1800" b="0" i="0" u="none" strike="noStrike" dirty="0" err="1">
                <a:solidFill>
                  <a:srgbClr val="CBD5E1"/>
                </a:solidFill>
                <a:effectLst/>
                <a:latin typeface="Urbanist"/>
              </a:rPr>
              <a:t>real-world</a:t>
            </a:r>
            <a:r>
              <a:rPr lang="el-GR" sz="1800" b="0" i="0" u="none" strike="noStrike" dirty="0">
                <a:solidFill>
                  <a:srgbClr val="CBD5E1"/>
                </a:solidFill>
                <a:effectLst/>
                <a:latin typeface="Urbanist"/>
              </a:rPr>
              <a:t> </a:t>
            </a:r>
            <a:r>
              <a:rPr lang="el-GR" sz="1800" b="0" i="0" u="none" strike="noStrike" dirty="0" err="1">
                <a:solidFill>
                  <a:srgbClr val="CBD5E1"/>
                </a:solidFill>
                <a:effectLst/>
                <a:latin typeface="Urbanist"/>
              </a:rPr>
              <a:t>insights</a:t>
            </a:r>
            <a:r>
              <a:rPr lang="el-GR" sz="1800" b="0" i="0" u="none" strike="noStrike" dirty="0">
                <a:solidFill>
                  <a:srgbClr val="CBD5E1"/>
                </a:solidFill>
                <a:effectLst/>
                <a:latin typeface="Urbanist"/>
              </a:rPr>
              <a:t>.</a:t>
            </a:r>
            <a:endParaRPr lang="en-US" sz="1800" b="0" i="0" u="none" strike="noStrike" dirty="0">
              <a:solidFill>
                <a:srgbClr val="CBD5E1"/>
              </a:solidFill>
              <a:effectLst/>
              <a:latin typeface="Urbanist"/>
            </a:endParaRPr>
          </a:p>
          <a:p>
            <a:pPr rtl="0">
              <a:buNone/>
            </a:pPr>
            <a:endParaRPr lang="en-US" sz="1800" b="0" i="0" u="none" strike="noStrike" dirty="0">
              <a:solidFill>
                <a:srgbClr val="CBD5E1"/>
              </a:solidFill>
              <a:effectLst/>
              <a:latin typeface="Urbanist"/>
            </a:endParaRPr>
          </a:p>
          <a:p>
            <a:r>
              <a:rPr lang="el-GR" b="1" dirty="0" err="1">
                <a:solidFill>
                  <a:schemeClr val="bg1"/>
                </a:solidFill>
              </a:rPr>
              <a:t>Excellent</a:t>
            </a:r>
            <a:r>
              <a:rPr lang="el-GR" b="1" dirty="0">
                <a:solidFill>
                  <a:schemeClr val="bg1"/>
                </a:solidFill>
              </a:rPr>
              <a:t> for </a:t>
            </a:r>
            <a:r>
              <a:rPr lang="el-GR" b="1" dirty="0" err="1">
                <a:solidFill>
                  <a:schemeClr val="bg1"/>
                </a:solidFill>
              </a:rPr>
              <a:t>coding</a:t>
            </a:r>
            <a:r>
              <a:rPr lang="el-GR" b="1" dirty="0">
                <a:solidFill>
                  <a:schemeClr val="bg1"/>
                </a:solidFill>
              </a:rPr>
              <a:t> </a:t>
            </a:r>
            <a:r>
              <a:rPr lang="el-GR" b="1" dirty="0" err="1">
                <a:solidFill>
                  <a:schemeClr val="bg1"/>
                </a:solidFill>
              </a:rPr>
              <a:t>practice</a:t>
            </a:r>
            <a:r>
              <a:rPr lang="el-GR" b="1" dirty="0">
                <a:solidFill>
                  <a:schemeClr val="bg1"/>
                </a:solidFill>
              </a:rPr>
              <a:t>:</a:t>
            </a:r>
            <a:r>
              <a:rPr lang="el-GR" dirty="0">
                <a:solidFill>
                  <a:schemeClr val="bg1"/>
                </a:solidFill>
              </a:rPr>
              <a:t> </a:t>
            </a:r>
            <a:r>
              <a:rPr lang="el-GR" dirty="0" err="1">
                <a:solidFill>
                  <a:schemeClr val="bg1"/>
                </a:solidFill>
              </a:rPr>
              <a:t>It</a:t>
            </a:r>
            <a:r>
              <a:rPr lang="el-GR" dirty="0">
                <a:solidFill>
                  <a:schemeClr val="bg1"/>
                </a:solidFill>
              </a:rPr>
              <a:t> </a:t>
            </a:r>
            <a:r>
              <a:rPr lang="el-GR" dirty="0" err="1">
                <a:solidFill>
                  <a:schemeClr val="bg1"/>
                </a:solidFill>
              </a:rPr>
              <a:t>remains</a:t>
            </a:r>
            <a:r>
              <a:rPr lang="el-GR" dirty="0">
                <a:solidFill>
                  <a:schemeClr val="bg1"/>
                </a:solidFill>
              </a:rPr>
              <a:t> </a:t>
            </a:r>
            <a:r>
              <a:rPr lang="el-GR" dirty="0" err="1">
                <a:solidFill>
                  <a:schemeClr val="bg1"/>
                </a:solidFill>
              </a:rPr>
              <a:t>highly</a:t>
            </a:r>
            <a:r>
              <a:rPr lang="el-GR" dirty="0">
                <a:solidFill>
                  <a:schemeClr val="bg1"/>
                </a:solidFill>
              </a:rPr>
              <a:t> </a:t>
            </a:r>
            <a:r>
              <a:rPr lang="el-GR" dirty="0" err="1">
                <a:solidFill>
                  <a:schemeClr val="bg1"/>
                </a:solidFill>
              </a:rPr>
              <a:t>valuable</a:t>
            </a:r>
            <a:r>
              <a:rPr lang="el-GR" dirty="0">
                <a:solidFill>
                  <a:schemeClr val="bg1"/>
                </a:solidFill>
              </a:rPr>
              <a:t> for </a:t>
            </a:r>
            <a:r>
              <a:rPr lang="el-GR" dirty="0" err="1">
                <a:solidFill>
                  <a:schemeClr val="bg1"/>
                </a:solidFill>
              </a:rPr>
              <a:t>practicing</a:t>
            </a:r>
            <a:r>
              <a:rPr lang="el-GR" dirty="0">
                <a:solidFill>
                  <a:schemeClr val="bg1"/>
                </a:solidFill>
              </a:rPr>
              <a:t> </a:t>
            </a:r>
            <a:r>
              <a:rPr lang="el-GR" dirty="0" err="1">
                <a:solidFill>
                  <a:schemeClr val="bg1"/>
                </a:solidFill>
              </a:rPr>
              <a:t>data</a:t>
            </a:r>
            <a:r>
              <a:rPr lang="el-GR" dirty="0">
                <a:solidFill>
                  <a:schemeClr val="bg1"/>
                </a:solidFill>
              </a:rPr>
              <a:t> </a:t>
            </a:r>
            <a:r>
              <a:rPr lang="el-GR" dirty="0" err="1">
                <a:solidFill>
                  <a:schemeClr val="bg1"/>
                </a:solidFill>
              </a:rPr>
              <a:t>manipulation</a:t>
            </a:r>
            <a:r>
              <a:rPr lang="el-GR" dirty="0">
                <a:solidFill>
                  <a:schemeClr val="bg1"/>
                </a:solidFill>
              </a:rPr>
              <a:t>, </a:t>
            </a:r>
            <a:r>
              <a:rPr lang="el-GR" dirty="0" err="1">
                <a:solidFill>
                  <a:schemeClr val="bg1"/>
                </a:solidFill>
              </a:rPr>
              <a:t>cleaning</a:t>
            </a:r>
            <a:r>
              <a:rPr lang="el-GR" dirty="0">
                <a:solidFill>
                  <a:schemeClr val="bg1"/>
                </a:solidFill>
              </a:rPr>
              <a:t>, EDA, and </a:t>
            </a:r>
            <a:r>
              <a:rPr lang="el-GR" dirty="0" err="1">
                <a:solidFill>
                  <a:schemeClr val="bg1"/>
                </a:solidFill>
              </a:rPr>
              <a:t>visualization</a:t>
            </a:r>
            <a:r>
              <a:rPr lang="el-GR" dirty="0">
                <a:solidFill>
                  <a:schemeClr val="bg1"/>
                </a:solidFill>
              </a:rPr>
              <a:t> </a:t>
            </a:r>
            <a:r>
              <a:rPr lang="el-GR" dirty="0" err="1">
                <a:solidFill>
                  <a:schemeClr val="bg1"/>
                </a:solidFill>
              </a:rPr>
              <a:t>techniques</a:t>
            </a:r>
            <a:r>
              <a:rPr lang="el-GR" dirty="0">
                <a:solidFill>
                  <a:schemeClr val="bg1"/>
                </a:solidFill>
              </a:rPr>
              <a:t> </a:t>
            </a:r>
            <a:r>
              <a:rPr lang="el-GR" dirty="0" err="1">
                <a:solidFill>
                  <a:schemeClr val="bg1"/>
                </a:solidFill>
              </a:rPr>
              <a:t>using</a:t>
            </a:r>
            <a:r>
              <a:rPr lang="el-GR" dirty="0">
                <a:solidFill>
                  <a:schemeClr val="bg1"/>
                </a:solidFill>
              </a:rPr>
              <a:t> </a:t>
            </a:r>
            <a:r>
              <a:rPr lang="el-GR" dirty="0" err="1">
                <a:solidFill>
                  <a:schemeClr val="bg1"/>
                </a:solidFill>
              </a:rPr>
              <a:t>Pandas</a:t>
            </a:r>
            <a:r>
              <a:rPr lang="el-GR" dirty="0">
                <a:solidFill>
                  <a:schemeClr val="bg1"/>
                </a:solidFill>
              </a:rPr>
              <a:t> and </a:t>
            </a:r>
            <a:r>
              <a:rPr lang="el-GR" dirty="0" err="1">
                <a:solidFill>
                  <a:schemeClr val="bg1"/>
                </a:solidFill>
              </a:rPr>
              <a:t>Matplotlib</a:t>
            </a:r>
            <a:r>
              <a:rPr lang="el-GR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l-GR" dirty="0">
              <a:solidFill>
                <a:schemeClr val="bg1"/>
              </a:solidFill>
            </a:endParaRPr>
          </a:p>
          <a:p>
            <a:br>
              <a:rPr lang="el-GR" dirty="0"/>
            </a:br>
            <a:endParaRPr lang="el-GR" b="0" dirty="0">
              <a:effectLst/>
            </a:endParaRPr>
          </a:p>
          <a:p>
            <a:pPr>
              <a:buNone/>
            </a:pPr>
            <a:br>
              <a:rPr lang="el-GR" dirty="0"/>
            </a:b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135508452"/>
      </p:ext>
    </p:extLst>
  </p:cSld>
  <p:clrMapOvr>
    <a:masterClrMapping/>
  </p:clrMapOvr>
</p:sld>
</file>

<file path=ppt/theme/theme1.xml><?xml version="1.0" encoding="utf-8"?>
<a:theme xmlns:a="http://schemas.openxmlformats.org/drawingml/2006/main" name="Γραμμές">
  <a:themeElements>
    <a:clrScheme name="Lines">
      <a:dk1>
        <a:srgbClr val="0F0F0F"/>
      </a:dk1>
      <a:lt1>
        <a:sysClr val="window" lastClr="FFFFFF"/>
      </a:lt1>
      <a:dk2>
        <a:srgbClr val="0A242A"/>
      </a:dk2>
      <a:lt2>
        <a:srgbClr val="F5F2ED"/>
      </a:lt2>
      <a:accent1>
        <a:srgbClr val="E45730"/>
      </a:accent1>
      <a:accent2>
        <a:srgbClr val="27717D"/>
      </a:accent2>
      <a:accent3>
        <a:srgbClr val="8CA8B5"/>
      </a:accent3>
      <a:accent4>
        <a:srgbClr val="607381"/>
      </a:accent4>
      <a:accent5>
        <a:srgbClr val="A39990"/>
      </a:accent5>
      <a:accent6>
        <a:srgbClr val="BA3106"/>
      </a:accent6>
      <a:hlink>
        <a:srgbClr val="E45730"/>
      </a:hlink>
      <a:folHlink>
        <a:srgbClr val="24717F"/>
      </a:folHlink>
    </a:clrScheme>
    <a:fontScheme name="Univers Condensed Arial Light">
      <a:majorFont>
        <a:latin typeface="Univers Condensed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ines" id="{656B2F94-71EE-4F5F-8AB6-423A33239BAD}" vid="{CD481196-1649-4740-8CB7-70D8662C6A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314</Words>
  <Application>Microsoft Office PowerPoint</Application>
  <PresentationFormat>Ευρεία οθόνη</PresentationFormat>
  <Paragraphs>46</Paragraphs>
  <Slides>11</Slides>
  <Notes>1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7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11</vt:i4>
      </vt:variant>
    </vt:vector>
  </HeadingPairs>
  <TitlesOfParts>
    <vt:vector size="19" baseType="lpstr">
      <vt:lpstr>Arial</vt:lpstr>
      <vt:lpstr>Arial Nova Light</vt:lpstr>
      <vt:lpstr>Bookman Old Style</vt:lpstr>
      <vt:lpstr>Calibri</vt:lpstr>
      <vt:lpstr>Univers Condensed</vt:lpstr>
      <vt:lpstr>Urbanist</vt:lpstr>
      <vt:lpstr>Wingdings</vt:lpstr>
      <vt:lpstr>Γραμμές</vt:lpstr>
      <vt:lpstr>Healthcare Dataset: Project_1 </vt:lpstr>
      <vt:lpstr>Παρουσίαση του PowerPoint</vt:lpstr>
      <vt:lpstr>separation into men and women</vt:lpstr>
      <vt:lpstr>Distribution of staying length</vt:lpstr>
      <vt:lpstr>Παρουσίαση του PowerPoint</vt:lpstr>
      <vt:lpstr>Top 20 customers by length of stay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DATA INTEGRITY-CONCLUSION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an.bourlis@daoc-hellenicpolice.gov.gr</dc:creator>
  <cp:lastModifiedBy>Preslav Petrov</cp:lastModifiedBy>
  <cp:revision>27</cp:revision>
  <dcterms:modified xsi:type="dcterms:W3CDTF">2026-06-16T22:35:30Z</dcterms:modified>
</cp:coreProperties>
</file>